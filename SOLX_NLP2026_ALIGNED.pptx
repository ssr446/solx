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8" r:id="rId4"/>
    <p:sldId id="266" r:id="rId5"/>
    <p:sldId id="267" r:id="rId6"/>
    <p:sldId id="259" r:id="rId7"/>
    <p:sldId id="260" r:id="rId8"/>
    <p:sldId id="265" r:id="rId9"/>
    <p:sldId id="261" r:id="rId10"/>
    <p:sldId id="262" r:id="rId11"/>
    <p:sldId id="263" r:id="rId12"/>
  </p:sldIdLst>
  <p:sldSz cx="18288000" cy="10287000"/>
  <p:notesSz cx="68580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Space Age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FF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ssr446.github.io/SOLX_Sample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ssr446.github.io/SOLX_Sample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ssr446.github.io/SOLX_Sample" TargetMode="External"/><Relationship Id="rId4" Type="http://schemas.openxmlformats.org/officeDocument/2006/relationships/hyperlink" Target="ssr446.github.io/SOLX_Sampl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20669" y="6270974"/>
            <a:ext cx="5590915" cy="1329278"/>
          </a:xfrm>
          <a:custGeom>
            <a:avLst/>
            <a:gdLst/>
            <a:ahLst/>
            <a:cxnLst/>
            <a:rect l="l" t="t" r="r" b="b"/>
            <a:pathLst>
              <a:path w="5590915" h="1329278">
                <a:moveTo>
                  <a:pt x="0" y="0"/>
                </a:moveTo>
                <a:lnTo>
                  <a:pt x="5590916" y="0"/>
                </a:lnTo>
                <a:lnTo>
                  <a:pt x="5590916" y="1329278"/>
                </a:lnTo>
                <a:lnTo>
                  <a:pt x="0" y="13292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320576" y="6609216"/>
            <a:ext cx="4967423" cy="1329278"/>
          </a:xfrm>
          <a:custGeom>
            <a:avLst/>
            <a:gdLst/>
            <a:ahLst/>
            <a:cxnLst/>
            <a:rect l="l" t="t" r="r" b="b"/>
            <a:pathLst>
              <a:path w="5590915" h="1329278">
                <a:moveTo>
                  <a:pt x="5590916" y="0"/>
                </a:moveTo>
                <a:lnTo>
                  <a:pt x="0" y="0"/>
                </a:lnTo>
                <a:lnTo>
                  <a:pt x="0" y="1329278"/>
                </a:lnTo>
                <a:lnTo>
                  <a:pt x="5590916" y="1329278"/>
                </a:lnTo>
                <a:lnTo>
                  <a:pt x="55909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694813" y="6609216"/>
            <a:ext cx="1546294" cy="1474289"/>
          </a:xfrm>
          <a:custGeom>
            <a:avLst/>
            <a:gdLst/>
            <a:ahLst/>
            <a:cxnLst/>
            <a:rect l="l" t="t" r="r" b="b"/>
            <a:pathLst>
              <a:path w="1546294" h="1474289">
                <a:moveTo>
                  <a:pt x="0" y="0"/>
                </a:moveTo>
                <a:lnTo>
                  <a:pt x="1546294" y="0"/>
                </a:lnTo>
                <a:lnTo>
                  <a:pt x="1546294" y="1474289"/>
                </a:lnTo>
                <a:lnTo>
                  <a:pt x="0" y="1474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498832" y="3929798"/>
            <a:ext cx="4548604" cy="479671"/>
          </a:xfrm>
          <a:custGeom>
            <a:avLst/>
            <a:gdLst/>
            <a:ahLst/>
            <a:cxnLst/>
            <a:rect l="l" t="t" r="r" b="b"/>
            <a:pathLst>
              <a:path w="4548604" h="479671">
                <a:moveTo>
                  <a:pt x="0" y="0"/>
                </a:moveTo>
                <a:lnTo>
                  <a:pt x="4548604" y="0"/>
                </a:lnTo>
                <a:lnTo>
                  <a:pt x="4548604" y="479671"/>
                </a:lnTo>
                <a:lnTo>
                  <a:pt x="0" y="479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251996" y="3929797"/>
            <a:ext cx="4548604" cy="479671"/>
          </a:xfrm>
          <a:custGeom>
            <a:avLst/>
            <a:gdLst/>
            <a:ahLst/>
            <a:cxnLst/>
            <a:rect l="l" t="t" r="r" b="b"/>
            <a:pathLst>
              <a:path w="4548604" h="479671">
                <a:moveTo>
                  <a:pt x="4548604" y="0"/>
                </a:moveTo>
                <a:lnTo>
                  <a:pt x="0" y="0"/>
                </a:lnTo>
                <a:lnTo>
                  <a:pt x="0" y="479671"/>
                </a:lnTo>
                <a:lnTo>
                  <a:pt x="4548604" y="479671"/>
                </a:lnTo>
                <a:lnTo>
                  <a:pt x="454860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66916" y="4897260"/>
            <a:ext cx="123568" cy="492479"/>
          </a:xfrm>
          <a:custGeom>
            <a:avLst/>
            <a:gdLst/>
            <a:ahLst/>
            <a:cxnLst/>
            <a:rect l="l" t="t" r="r" b="b"/>
            <a:pathLst>
              <a:path w="123568" h="492479">
                <a:moveTo>
                  <a:pt x="0" y="0"/>
                </a:moveTo>
                <a:lnTo>
                  <a:pt x="123568" y="0"/>
                </a:lnTo>
                <a:lnTo>
                  <a:pt x="123568" y="492480"/>
                </a:lnTo>
                <a:lnTo>
                  <a:pt x="0" y="492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135732" y="4897260"/>
            <a:ext cx="123568" cy="492479"/>
          </a:xfrm>
          <a:custGeom>
            <a:avLst/>
            <a:gdLst/>
            <a:ahLst/>
            <a:cxnLst/>
            <a:rect l="l" t="t" r="r" b="b"/>
            <a:pathLst>
              <a:path w="123568" h="492479">
                <a:moveTo>
                  <a:pt x="0" y="0"/>
                </a:moveTo>
                <a:lnTo>
                  <a:pt x="123568" y="0"/>
                </a:lnTo>
                <a:lnTo>
                  <a:pt x="123568" y="492480"/>
                </a:lnTo>
                <a:lnTo>
                  <a:pt x="0" y="492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830284" y="-38100"/>
            <a:ext cx="2533916" cy="2236141"/>
          </a:xfrm>
          <a:custGeom>
            <a:avLst/>
            <a:gdLst/>
            <a:ahLst/>
            <a:cxnLst/>
            <a:rect l="l" t="t" r="r" b="b"/>
            <a:pathLst>
              <a:path w="3130400" h="2804963">
                <a:moveTo>
                  <a:pt x="0" y="0"/>
                </a:moveTo>
                <a:lnTo>
                  <a:pt x="3130400" y="0"/>
                </a:lnTo>
                <a:lnTo>
                  <a:pt x="3130400" y="2804962"/>
                </a:lnTo>
                <a:lnTo>
                  <a:pt x="0" y="28049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3783" y="75662"/>
            <a:ext cx="3991017" cy="1638837"/>
          </a:xfrm>
          <a:custGeom>
            <a:avLst/>
            <a:gdLst/>
            <a:ahLst/>
            <a:cxnLst/>
            <a:rect l="l" t="t" r="r" b="b"/>
            <a:pathLst>
              <a:path w="4223156" h="1992493">
                <a:moveTo>
                  <a:pt x="0" y="0"/>
                </a:moveTo>
                <a:lnTo>
                  <a:pt x="4223156" y="0"/>
                </a:lnTo>
                <a:lnTo>
                  <a:pt x="4223156" y="1992494"/>
                </a:lnTo>
                <a:lnTo>
                  <a:pt x="0" y="19924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996778" y="402697"/>
            <a:ext cx="6942364" cy="459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4"/>
              </a:lnSpc>
              <a:spcBef>
                <a:spcPct val="0"/>
              </a:spcBef>
            </a:pPr>
            <a:r>
              <a:rPr lang="en-US" sz="2667" spc="-10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SRM INSTITUTE OF SCIENCE AND TECHNOLOGY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27106" y="1057207"/>
            <a:ext cx="5050334" cy="283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spc="-6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DEPARTMENT OF COMPUTER SCIENCE AND ENGINEERING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83266" y="1714500"/>
            <a:ext cx="3138013" cy="304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2"/>
              </a:lnSpc>
              <a:spcBef>
                <a:spcPct val="0"/>
              </a:spcBef>
            </a:pPr>
            <a:r>
              <a:rPr lang="en-US" sz="1744" spc="-6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DESIGN AND INNOVATION CLUB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04198" y="4236432"/>
            <a:ext cx="13296148" cy="1825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49"/>
              </a:lnSpc>
              <a:spcBef>
                <a:spcPct val="0"/>
              </a:spcBef>
            </a:pPr>
            <a:r>
              <a:rPr lang="en-US" sz="10392" spc="-415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NLP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4112" y="2203495"/>
            <a:ext cx="16276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 dirty="0">
                <a:solidFill>
                  <a:srgbClr val="C1FF72"/>
                </a:solidFill>
                <a:latin typeface="Space Age"/>
              </a:rPr>
              <a:t>SOLX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8972" y="3422112"/>
            <a:ext cx="7966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 dirty="0">
                <a:solidFill>
                  <a:srgbClr val="B8D4A8"/>
                </a:solidFill>
                <a:latin typeface="Poppins"/>
              </a:rPr>
              <a:t>Sarcasm &amp; Online harm Locator with </a:t>
            </a:r>
            <a:r>
              <a:rPr sz="2400" b="0" i="1" dirty="0" err="1">
                <a:solidFill>
                  <a:srgbClr val="B8D4A8"/>
                </a:solidFill>
                <a:latin typeface="Poppins"/>
              </a:rPr>
              <a:t>eXplainability</a:t>
            </a:r>
            <a:endParaRPr sz="2400" b="0" i="1" dirty="0">
              <a:solidFill>
                <a:srgbClr val="B8D4A8"/>
              </a:solidFill>
              <a:latin typeface="Poppi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19886" y="5868134"/>
            <a:ext cx="1329614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0" i="0" dirty="0">
                <a:solidFill>
                  <a:srgbClr val="B8D4A8"/>
                </a:solidFill>
                <a:latin typeface="Poppins"/>
              </a:rPr>
              <a:t>PROBLEM STATEMENT 1   |   AI-Powered </a:t>
            </a:r>
            <a:r>
              <a:rPr sz="2500" b="0" i="0" dirty="0" err="1">
                <a:solidFill>
                  <a:srgbClr val="B8D4A8"/>
                </a:solidFill>
                <a:latin typeface="Poppins"/>
              </a:rPr>
              <a:t>Tanglish</a:t>
            </a:r>
            <a:r>
              <a:rPr sz="2500" b="0" i="0" dirty="0">
                <a:solidFill>
                  <a:srgbClr val="B8D4A8"/>
                </a:solidFill>
                <a:latin typeface="Poppins"/>
              </a:rPr>
              <a:t> Cyberbullying &amp; Sarcasm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1400" y="6423661"/>
            <a:ext cx="11506200" cy="45719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306" y="7546553"/>
            <a:ext cx="6400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8822"/>
                </a:solidFill>
                <a:latin typeface="Poppins"/>
              </a:rPr>
              <a:t>Team  Inferno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306" y="82464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F0FFE8"/>
                </a:solidFill>
                <a:latin typeface="Calibri"/>
              </a:rPr>
              <a:t>Y </a:t>
            </a:r>
            <a:r>
              <a:rPr b="0" i="0" dirty="0">
                <a:solidFill>
                  <a:srgbClr val="F0FFE8"/>
                </a:solidFill>
                <a:latin typeface="Calibri"/>
              </a:rPr>
              <a:t>Roshni             RA2311003040018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306" y="866324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0FFE8"/>
                </a:solidFill>
                <a:latin typeface="Calibri"/>
              </a:rPr>
              <a:t>Sai Shivaram LN   RA2311003040023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306" y="907319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dirty="0">
                <a:solidFill>
                  <a:srgbClr val="F0FFE8"/>
                </a:solidFill>
                <a:latin typeface="Calibri"/>
              </a:rPr>
              <a:t>Archana Ramesh   RA2311003040050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10268" y="8450836"/>
            <a:ext cx="4515384" cy="938762"/>
          </a:xfrm>
          <a:prstGeom prst="rect">
            <a:avLst/>
          </a:prstGeom>
          <a:solidFill>
            <a:srgbClr val="081808"/>
          </a:solidFill>
          <a:ln w="19050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8962868" y="8572500"/>
            <a:ext cx="10101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C1FF72"/>
                </a:solidFill>
                <a:latin typeface="Calibri"/>
              </a:rPr>
              <a:t>Live</a:t>
            </a:r>
            <a:r>
              <a:rPr sz="1200" b="1" i="0" dirty="0">
                <a:solidFill>
                  <a:srgbClr val="C1FF72"/>
                </a:solidFill>
                <a:latin typeface="Calibri"/>
              </a:rPr>
              <a:t> </a:t>
            </a:r>
            <a:r>
              <a:rPr sz="1500" b="1" i="0" dirty="0">
                <a:solidFill>
                  <a:srgbClr val="C1FF72"/>
                </a:solidFill>
                <a:latin typeface="Calibri"/>
              </a:rPr>
              <a:t>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0560" y="8915711"/>
            <a:ext cx="4114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C1FF72"/>
                </a:solidFill>
                <a:latin typeface="Consolas"/>
              </a:rPr>
              <a:t>ssr446.github.io/</a:t>
            </a:r>
            <a:r>
              <a:rPr sz="2000" b="0" i="0" dirty="0" err="1">
                <a:solidFill>
                  <a:srgbClr val="C1FF72"/>
                </a:solidFill>
                <a:latin typeface="Consolas"/>
              </a:rPr>
              <a:t>SOLX_Sample</a:t>
            </a:r>
            <a:endParaRPr sz="2000" b="0" i="0" dirty="0">
              <a:solidFill>
                <a:srgbClr val="C1FF72"/>
              </a:solidFill>
              <a:latin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05840" y="9829800"/>
            <a:ext cx="1627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A78"/>
                </a:solidFill>
                <a:latin typeface="Poppins"/>
              </a:rPr>
              <a:t>NLP Hackathon 2026   |   SRM Institute of Science and Technology   |   Dept. of CSE</a:t>
            </a:r>
          </a:p>
        </p:txBody>
      </p:sp>
      <p:sp>
        <p:nvSpPr>
          <p:cNvPr id="29" name="Rectangle 28">
            <a:hlinkClick r:id="rId8" action="ppaction://hlinkfile"/>
            <a:extLst>
              <a:ext uri="{FF2B5EF4-FFF2-40B4-BE49-F238E27FC236}">
                <a16:creationId xmlns:a16="http://schemas.microsoft.com/office/drawing/2014/main" id="{91E3A64C-92FD-0187-BE68-0B98F100BAE3}"/>
              </a:ext>
            </a:extLst>
          </p:cNvPr>
          <p:cNvSpPr/>
          <p:nvPr/>
        </p:nvSpPr>
        <p:spPr>
          <a:xfrm>
            <a:off x="7410560" y="8979572"/>
            <a:ext cx="4114800" cy="301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444" b="-1744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609600" y="744859"/>
            <a:ext cx="15829870" cy="92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200" dirty="0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CHOOSEN PROBLEM</a:t>
            </a:r>
          </a:p>
        </p:txBody>
      </p:sp>
      <p:sp>
        <p:nvSpPr>
          <p:cNvPr id="4" name="Freeform 4"/>
          <p:cNvSpPr/>
          <p:nvPr/>
        </p:nvSpPr>
        <p:spPr>
          <a:xfrm>
            <a:off x="12460337" y="2385513"/>
            <a:ext cx="1546294" cy="1474289"/>
          </a:xfrm>
          <a:custGeom>
            <a:avLst/>
            <a:gdLst/>
            <a:ahLst/>
            <a:cxnLst/>
            <a:rect l="l" t="t" r="r" b="b"/>
            <a:pathLst>
              <a:path w="1546294" h="1474289">
                <a:moveTo>
                  <a:pt x="0" y="0"/>
                </a:moveTo>
                <a:lnTo>
                  <a:pt x="1546293" y="0"/>
                </a:lnTo>
                <a:lnTo>
                  <a:pt x="1546293" y="1474289"/>
                </a:lnTo>
                <a:lnTo>
                  <a:pt x="0" y="14742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69848" y="1998064"/>
            <a:ext cx="16276320" cy="1325880"/>
          </a:xfrm>
          <a:prstGeom prst="rect">
            <a:avLst/>
          </a:prstGeom>
          <a:solidFill>
            <a:srgbClr val="081408"/>
          </a:solidFill>
          <a:ln w="19050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2561" y="1998064"/>
            <a:ext cx="64008" cy="1325880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52728" y="2244952"/>
            <a:ext cx="159105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F0FFE8"/>
                </a:solidFill>
                <a:latin typeface="Calibri"/>
              </a:rPr>
              <a:t>Develop an AI-powered model to understand </a:t>
            </a:r>
            <a:r>
              <a:rPr sz="1600" b="0" i="1" dirty="0" err="1">
                <a:solidFill>
                  <a:srgbClr val="F0FFE8"/>
                </a:solidFill>
                <a:latin typeface="Calibri"/>
              </a:rPr>
              <a:t>Tanglish</a:t>
            </a:r>
            <a:r>
              <a:rPr sz="1600" b="0" i="1" dirty="0">
                <a:solidFill>
                  <a:srgbClr val="F0FFE8"/>
                </a:solidFill>
                <a:latin typeface="Calibri"/>
              </a:rPr>
              <a:t> (Tamil written in English alphabets) and detect toxic comments, hate speech, online harassment, and cultural sarcasm embedded in pop-culture references across digital platforms.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431" y="3997503"/>
            <a:ext cx="8229600" cy="242316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1088431" y="4008069"/>
            <a:ext cx="8229600" cy="50292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25591" y="4187952"/>
            <a:ext cx="7955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C1FF72"/>
                </a:solidFill>
                <a:latin typeface="Poppins"/>
              </a:rPr>
              <a:t>No Standard Spelling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863821"/>
            <a:ext cx="79552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8D4A8"/>
                </a:solidFill>
                <a:latin typeface="Calibri"/>
              </a:rPr>
              <a:t>"Enna" / "</a:t>
            </a:r>
            <a:r>
              <a:rPr sz="1600" b="0" i="0" dirty="0" err="1">
                <a:solidFill>
                  <a:srgbClr val="B8D4A8"/>
                </a:solidFill>
                <a:latin typeface="Calibri"/>
              </a:rPr>
              <a:t>yenna</a:t>
            </a:r>
            <a:r>
              <a:rPr sz="1600" b="0" i="0" dirty="0">
                <a:solidFill>
                  <a:srgbClr val="B8D4A8"/>
                </a:solidFill>
                <a:latin typeface="Calibri"/>
              </a:rPr>
              <a:t>" / "</a:t>
            </a:r>
            <a:r>
              <a:rPr sz="1600" b="0" i="0" dirty="0" err="1">
                <a:solidFill>
                  <a:srgbClr val="B8D4A8"/>
                </a:solidFill>
                <a:latin typeface="Calibri"/>
              </a:rPr>
              <a:t>ena</a:t>
            </a:r>
            <a:r>
              <a:rPr sz="1600" b="0" i="0" dirty="0">
                <a:solidFill>
                  <a:srgbClr val="B8D4A8"/>
                </a:solidFill>
                <a:latin typeface="Calibri"/>
              </a:rPr>
              <a:t>" / "</a:t>
            </a:r>
            <a:r>
              <a:rPr sz="1600" b="0" i="0" dirty="0" err="1">
                <a:solidFill>
                  <a:srgbClr val="B8D4A8"/>
                </a:solidFill>
                <a:latin typeface="Calibri"/>
              </a:rPr>
              <a:t>yena</a:t>
            </a:r>
            <a:r>
              <a:rPr sz="1600" b="0" i="0" dirty="0">
                <a:solidFill>
                  <a:srgbClr val="B8D4A8"/>
                </a:solidFill>
                <a:latin typeface="Calibri"/>
              </a:rPr>
              <a:t>" — dozens of spelling variants per Tamil word. Standard tokenizers cannot handle this non-standard orthography.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40651" y="4001976"/>
            <a:ext cx="8229600" cy="242316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40651" y="3993471"/>
            <a:ext cx="8229600" cy="502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12594" y="4217891"/>
            <a:ext cx="7955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FD700"/>
                </a:solidFill>
                <a:latin typeface="Poppins"/>
              </a:rPr>
              <a:t>Invisible Cultural Sarcasm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0651" y="4864874"/>
            <a:ext cx="79552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8D4A8"/>
                </a:solidFill>
                <a:latin typeface="Calibri"/>
              </a:rPr>
              <a:t>Tamil meme culture wraps insults in film dialogues &amp; meme templates. Generic NLP models have zero awareness of these references.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7315200"/>
            <a:ext cx="8229600" cy="242316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05840" y="7315200"/>
            <a:ext cx="8229600" cy="50292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88720" y="7595518"/>
            <a:ext cx="7955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22DDBB"/>
                </a:solidFill>
                <a:latin typeface="Poppins"/>
              </a:rPr>
              <a:t>Code-Switching Confusion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6569" y="8220850"/>
            <a:ext cx="79552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B8D4A8"/>
                </a:solidFill>
                <a:latin typeface="Calibri"/>
              </a:rPr>
              <a:t>Tanglish</a:t>
            </a:r>
            <a:r>
              <a:rPr sz="1600" b="0" i="0" dirty="0">
                <a:solidFill>
                  <a:srgbClr val="B8D4A8"/>
                </a:solidFill>
                <a:latin typeface="Calibri"/>
              </a:rPr>
              <a:t> mixes Tamil grammar with English mid-sentence, defeating NLP pipelines built for single-language input.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20" y="7315200"/>
            <a:ext cx="8229600" cy="242316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46920" y="7315200"/>
            <a:ext cx="8229600" cy="50292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12594" y="7624673"/>
            <a:ext cx="7955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F5555"/>
                </a:solidFill>
                <a:latin typeface="Poppins"/>
              </a:rPr>
              <a:t>Scarce Labelled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2594" y="8255556"/>
            <a:ext cx="79552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8D4A8"/>
                </a:solidFill>
                <a:latin typeface="Calibri"/>
              </a:rPr>
              <a:t>Publicly available </a:t>
            </a:r>
            <a:r>
              <a:rPr sz="1600" b="0" i="0" dirty="0" err="1">
                <a:solidFill>
                  <a:srgbClr val="B8D4A8"/>
                </a:solidFill>
                <a:latin typeface="Calibri"/>
              </a:rPr>
              <a:t>Tanglish</a:t>
            </a:r>
            <a:r>
              <a:rPr sz="1600" b="0" i="0" dirty="0">
                <a:solidFill>
                  <a:srgbClr val="B8D4A8"/>
                </a:solidFill>
                <a:latin typeface="Calibri"/>
              </a:rPr>
              <a:t> cyberbullying datasets are extremely scarce, making supervised model training highly challenging.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8328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1FF72"/>
                </a:solidFill>
                <a:latin typeface="Poppins"/>
              </a:rPr>
              <a:t>Currently Existing Issues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3822191"/>
            <a:ext cx="1627632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9D22F-3CC2-990E-6AD8-DD3530A05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36DC702-5191-3F7D-9779-F2E6350A649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444" b="-1744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F019B03-FADE-A2C1-D0F5-380DB466F164}"/>
              </a:ext>
            </a:extLst>
          </p:cNvPr>
          <p:cNvSpPr/>
          <p:nvPr/>
        </p:nvSpPr>
        <p:spPr>
          <a:xfrm>
            <a:off x="10725860" y="8178683"/>
            <a:ext cx="1132345" cy="1079617"/>
          </a:xfrm>
          <a:custGeom>
            <a:avLst/>
            <a:gdLst/>
            <a:ahLst/>
            <a:cxnLst/>
            <a:rect l="l" t="t" r="r" b="b"/>
            <a:pathLst>
              <a:path w="1132345" h="1079617">
                <a:moveTo>
                  <a:pt x="0" y="0"/>
                </a:moveTo>
                <a:lnTo>
                  <a:pt x="1132345" y="0"/>
                </a:lnTo>
                <a:lnTo>
                  <a:pt x="1132345" y="1079617"/>
                </a:lnTo>
                <a:lnTo>
                  <a:pt x="0" y="10796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A5E1A99-A170-BFBA-F928-0F88A76BA291}"/>
              </a:ext>
            </a:extLst>
          </p:cNvPr>
          <p:cNvSpPr txBox="1"/>
          <p:nvPr/>
        </p:nvSpPr>
        <p:spPr>
          <a:xfrm>
            <a:off x="457200" y="760682"/>
            <a:ext cx="16986431" cy="1045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12"/>
              </a:lnSpc>
            </a:pPr>
            <a:r>
              <a:rPr lang="en-US" sz="5200" dirty="0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PROBLEM ABSTRACT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59C43D-EFE1-0E9C-1907-4D31CD49FB28}"/>
              </a:ext>
            </a:extLst>
          </p:cNvPr>
          <p:cNvSpPr/>
          <p:nvPr/>
        </p:nvSpPr>
        <p:spPr>
          <a:xfrm>
            <a:off x="812255" y="3134825"/>
            <a:ext cx="162763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F12811-D89A-EA11-0ECC-204AF8E73D30}"/>
              </a:ext>
            </a:extLst>
          </p:cNvPr>
          <p:cNvSpPr txBox="1"/>
          <p:nvPr/>
        </p:nvSpPr>
        <p:spPr>
          <a:xfrm>
            <a:off x="812255" y="3538728"/>
            <a:ext cx="78638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C1FF72"/>
                </a:solidFill>
                <a:latin typeface="Poppins"/>
              </a:rPr>
              <a:t>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5EC55B-9E2C-C7CD-1085-D5AA701C0CC5}"/>
              </a:ext>
            </a:extLst>
          </p:cNvPr>
          <p:cNvSpPr txBox="1"/>
          <p:nvPr/>
        </p:nvSpPr>
        <p:spPr>
          <a:xfrm>
            <a:off x="1005840" y="4297680"/>
            <a:ext cx="7863840" cy="2872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Detect toxic, harassing and hate-speech content in </a:t>
            </a:r>
            <a:r>
              <a:rPr sz="1600" b="0" dirty="0" err="1">
                <a:solidFill>
                  <a:srgbClr val="B8D4A8"/>
                </a:solidFill>
                <a:latin typeface="Calibri"/>
              </a:rPr>
              <a:t>Tanglish</a:t>
            </a:r>
            <a:r>
              <a:rPr sz="1600" b="0" dirty="0">
                <a:solidFill>
                  <a:srgbClr val="B8D4A8"/>
                </a:solidFill>
                <a:latin typeface="Calibri"/>
              </a:rPr>
              <a:t> text</a:t>
            </a:r>
          </a:p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Identify culturally embedded sarcasm via Tamil pop-culture references</a:t>
            </a:r>
          </a:p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Standardize </a:t>
            </a:r>
            <a:r>
              <a:rPr sz="1600" b="0" dirty="0" err="1">
                <a:solidFill>
                  <a:srgbClr val="B8D4A8"/>
                </a:solidFill>
                <a:latin typeface="Calibri"/>
              </a:rPr>
              <a:t>Tanglish</a:t>
            </a:r>
            <a:r>
              <a:rPr sz="1600" b="0" dirty="0">
                <a:solidFill>
                  <a:srgbClr val="B8D4A8"/>
                </a:solidFill>
                <a:latin typeface="Calibri"/>
              </a:rPr>
              <a:t> spelling variants with a phonetic normalizer</a:t>
            </a:r>
          </a:p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Provide explainable, plain-English justification for every prediction</a:t>
            </a:r>
          </a:p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Improve digital safety for Tamil-speaking online communities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D2D563-9485-E4F5-BB4D-6860EE9F42D5}"/>
              </a:ext>
            </a:extLst>
          </p:cNvPr>
          <p:cNvSpPr/>
          <p:nvPr/>
        </p:nvSpPr>
        <p:spPr>
          <a:xfrm>
            <a:off x="9098673" y="3157685"/>
            <a:ext cx="27432" cy="594360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C5E660-28CA-B2EC-6C1E-C7DEDCADFCF8}"/>
              </a:ext>
            </a:extLst>
          </p:cNvPr>
          <p:cNvSpPr txBox="1"/>
          <p:nvPr/>
        </p:nvSpPr>
        <p:spPr>
          <a:xfrm>
            <a:off x="9349311" y="3607308"/>
            <a:ext cx="786384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FD700"/>
                </a:solidFill>
                <a:latin typeface="Poppins"/>
              </a:rPr>
              <a:t>THEME</a:t>
            </a:r>
            <a:r>
              <a:rPr sz="1500" b="1" i="0" dirty="0">
                <a:solidFill>
                  <a:srgbClr val="FFD700"/>
                </a:solidFill>
                <a:latin typeface="Poppins"/>
              </a:rPr>
              <a:t> </a:t>
            </a:r>
            <a:r>
              <a:rPr sz="1700" b="1" i="0" dirty="0">
                <a:solidFill>
                  <a:srgbClr val="FFD700"/>
                </a:solidFill>
                <a:latin typeface="Poppins"/>
              </a:rPr>
              <a:t>ALIGNMENT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71B0EA-6C6F-5B34-B313-C8E09C0075EE}"/>
              </a:ext>
            </a:extLst>
          </p:cNvPr>
          <p:cNvSpPr txBox="1"/>
          <p:nvPr/>
        </p:nvSpPr>
        <p:spPr>
          <a:xfrm>
            <a:off x="9464040" y="4297680"/>
            <a:ext cx="786384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Next-Gen Tamil Language &amp; Cultural AI (Hackathon Theme)</a:t>
            </a:r>
          </a:p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Preserve classical Tamil digital culture</a:t>
            </a:r>
          </a:p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Improve digital accessibility for Tamil communities</a:t>
            </a:r>
          </a:p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Secure online communication using intelligent AI</a:t>
            </a:r>
          </a:p>
          <a:p>
            <a:pPr>
              <a:spcBef>
                <a:spcPts val="8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Bridge rural language use and modern digital platforms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48ACAC-74E9-4C13-2D31-D602537076E3}"/>
              </a:ext>
            </a:extLst>
          </p:cNvPr>
          <p:cNvSpPr txBox="1"/>
          <p:nvPr/>
        </p:nvSpPr>
        <p:spPr>
          <a:xfrm>
            <a:off x="838200" y="1937147"/>
            <a:ext cx="172364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i="1" dirty="0">
                <a:solidFill>
                  <a:srgbClr val="B8D4A8"/>
                </a:solidFill>
                <a:latin typeface="Poppins"/>
              </a:rPr>
              <a:t>Objectives &amp; Theme Alignment</a:t>
            </a:r>
          </a:p>
          <a:p>
            <a:pPr algn="l"/>
            <a:endParaRPr sz="1700" b="0" i="1" dirty="0">
              <a:solidFill>
                <a:srgbClr val="B8D4A8"/>
              </a:solidFill>
              <a:latin typeface="Poppin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40F3EE-0882-13A2-C2E6-C4A56ACF0714}"/>
              </a:ext>
            </a:extLst>
          </p:cNvPr>
          <p:cNvSpPr/>
          <p:nvPr/>
        </p:nvSpPr>
        <p:spPr>
          <a:xfrm>
            <a:off x="762000" y="2303984"/>
            <a:ext cx="1723644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AAD125-CE87-8E86-F435-B593CDB9C6CB}"/>
              </a:ext>
            </a:extLst>
          </p:cNvPr>
          <p:cNvSpPr/>
          <p:nvPr/>
        </p:nvSpPr>
        <p:spPr>
          <a:xfrm>
            <a:off x="762000" y="1922984"/>
            <a:ext cx="1723644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26804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2">
            <a:extLst>
              <a:ext uri="{FF2B5EF4-FFF2-40B4-BE49-F238E27FC236}">
                <a16:creationId xmlns:a16="http://schemas.microsoft.com/office/drawing/2014/main" id="{1CF868E1-52B9-E61C-B7EB-2EA79555890C}"/>
              </a:ext>
            </a:extLst>
          </p:cNvPr>
          <p:cNvSpPr/>
          <p:nvPr/>
        </p:nvSpPr>
        <p:spPr>
          <a:xfrm>
            <a:off x="-152400" y="-266700"/>
            <a:ext cx="18592800" cy="107442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444" b="-1744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342900"/>
            <a:ext cx="1645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 dirty="0">
                <a:solidFill>
                  <a:srgbClr val="C1FF72"/>
                </a:solidFill>
                <a:latin typeface="Space Age"/>
              </a:rPr>
              <a:t>OBJECTIVES AND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562100"/>
            <a:ext cx="1723644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638300"/>
            <a:ext cx="1723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 dirty="0">
                <a:solidFill>
                  <a:srgbClr val="B8D4A8"/>
                </a:solidFill>
                <a:latin typeface="Poppins"/>
              </a:rPr>
              <a:t>Objectives with the solution approach for 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1999184"/>
            <a:ext cx="1723644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237744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  <a:latin typeface="Poppins"/>
              </a:rPr>
              <a:t>OBJECTIVE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8997696" y="2377440"/>
            <a:ext cx="36576" cy="72237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0" y="23774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DDBB"/>
                </a:solidFill>
                <a:latin typeface="Poppins"/>
              </a:rPr>
              <a:t>SOLUTION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2770632"/>
            <a:ext cx="1723644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0352" y="2852928"/>
            <a:ext cx="8430768" cy="1353312"/>
          </a:xfrm>
          <a:prstGeom prst="rect">
            <a:avLst/>
          </a:prstGeom>
          <a:solidFill>
            <a:srgbClr val="081204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0352" y="2852928"/>
            <a:ext cx="50292" cy="13533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962656"/>
            <a:ext cx="813816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FE8"/>
                </a:solidFill>
                <a:latin typeface="Calibri"/>
              </a:rPr>
              <a:t>Detect toxic, harassing and hate-speech content in Tanglish 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4272" y="2852928"/>
            <a:ext cx="8732520" cy="1353312"/>
          </a:xfrm>
          <a:prstGeom prst="rect">
            <a:avLst/>
          </a:prstGeom>
          <a:solidFill>
            <a:srgbClr val="041010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034272" y="2852928"/>
            <a:ext cx="50292" cy="135331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98864" y="2962656"/>
            <a:ext cx="841248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/>
              </a:rPr>
              <a:t>Fine-tuned MuRIL / XLM-RoBERTa multi-label classifier trained on Tanglish-specific corpora (HASOC, Dravidian-CodeMix) detects toxicity with high precision even in code-switched sentences.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4242816"/>
            <a:ext cx="8430768" cy="1353312"/>
          </a:xfrm>
          <a:prstGeom prst="rect">
            <a:avLst/>
          </a:prstGeom>
          <a:solidFill>
            <a:srgbClr val="081204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0352" y="4242816"/>
            <a:ext cx="50292" cy="1353312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352544"/>
            <a:ext cx="813816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FE8"/>
                </a:solidFill>
                <a:latin typeface="Calibri"/>
              </a:rPr>
              <a:t>Identify culturally embedded sarcasm via Tamil pop-culture references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34272" y="4242816"/>
            <a:ext cx="8732520" cy="1353312"/>
          </a:xfrm>
          <a:prstGeom prst="rect">
            <a:avLst/>
          </a:prstGeom>
          <a:solidFill>
            <a:srgbClr val="041010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34272" y="4242816"/>
            <a:ext cx="50292" cy="1353312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98864" y="4352544"/>
            <a:ext cx="841248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/>
              </a:rPr>
              <a:t>Cultural Context Engine queries a knowledge-base of Tamil film dialogues and internet meme templates to unmask sarcasm that keyword filters and generic NLP models are completely blind to.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5632704"/>
            <a:ext cx="8430768" cy="1353312"/>
          </a:xfrm>
          <a:prstGeom prst="rect">
            <a:avLst/>
          </a:prstGeom>
          <a:solidFill>
            <a:srgbClr val="081204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0352" y="5632704"/>
            <a:ext cx="50292" cy="1353312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742432"/>
            <a:ext cx="813816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FE8"/>
                </a:solidFill>
                <a:latin typeface="Calibri"/>
              </a:rPr>
              <a:t>Standardize Tanglish spelling variants with a phonetic normalizer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4272" y="5632704"/>
            <a:ext cx="8732520" cy="1353312"/>
          </a:xfrm>
          <a:prstGeom prst="rect">
            <a:avLst/>
          </a:prstGeom>
          <a:solidFill>
            <a:srgbClr val="041010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34272" y="5632704"/>
            <a:ext cx="50292" cy="1353312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98864" y="5742432"/>
            <a:ext cx="841248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/>
              </a:rPr>
              <a:t>A phonetic mapping table + character-level embedding similarity resolves 50+ spelling variants per common Tamil word (e.g. enna / yenna / ena / yena) before classification.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7022592"/>
            <a:ext cx="8430768" cy="1353312"/>
          </a:xfrm>
          <a:prstGeom prst="rect">
            <a:avLst/>
          </a:prstGeom>
          <a:solidFill>
            <a:srgbClr val="081204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30352" y="7022592"/>
            <a:ext cx="50292" cy="1353312"/>
          </a:xfrm>
          <a:prstGeom prst="rect">
            <a:avLst/>
          </a:prstGeom>
          <a:solidFill>
            <a:srgbClr val="FF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7132320"/>
            <a:ext cx="813816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FE8"/>
                </a:solidFill>
                <a:latin typeface="Calibri"/>
              </a:rPr>
              <a:t>Provide explainable, plain-English justification for every prediction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34272" y="7022592"/>
            <a:ext cx="8732520" cy="1353312"/>
          </a:xfrm>
          <a:prstGeom prst="rect">
            <a:avLst/>
          </a:prstGeom>
          <a:solidFill>
            <a:srgbClr val="041010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34272" y="7022592"/>
            <a:ext cx="50292" cy="1353312"/>
          </a:xfrm>
          <a:prstGeom prst="rect">
            <a:avLst/>
          </a:prstGeom>
          <a:solidFill>
            <a:srgbClr val="FF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98864" y="7132320"/>
            <a:ext cx="841248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/>
              </a:rPr>
              <a:t>An XAI layer generates moderator-ready explanations — not just a label, but WHY a comment is harmful, which phrase triggered it, and its cultural origin — enabling transparent, auditable moderation.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" y="8412480"/>
            <a:ext cx="8430768" cy="1353312"/>
          </a:xfrm>
          <a:prstGeom prst="rect">
            <a:avLst/>
          </a:prstGeom>
          <a:solidFill>
            <a:srgbClr val="081204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30352" y="8412480"/>
            <a:ext cx="50292" cy="1353312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8522208"/>
            <a:ext cx="813816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0FFE8"/>
                </a:solidFill>
                <a:latin typeface="Calibri"/>
              </a:rPr>
              <a:t>Improve digital safety for Tamil-speaking online communities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34272" y="8412480"/>
            <a:ext cx="8732520" cy="1353312"/>
          </a:xfrm>
          <a:prstGeom prst="rect">
            <a:avLst/>
          </a:prstGeom>
          <a:solidFill>
            <a:srgbClr val="041010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034272" y="8412480"/>
            <a:ext cx="50292" cy="1353312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98864" y="8522208"/>
            <a:ext cx="841248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/>
              </a:rPr>
              <a:t>Structured JSON API output integrates directly into platform moderation pipelines (Twitter, YouTube, Instagram) — making SOLX a plug-in safety layer for any Tamil-content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 2">
            <a:extLst>
              <a:ext uri="{FF2B5EF4-FFF2-40B4-BE49-F238E27FC236}">
                <a16:creationId xmlns:a16="http://schemas.microsoft.com/office/drawing/2014/main" id="{689B2C36-50F1-0316-1829-09D408FCB67D}"/>
              </a:ext>
            </a:extLst>
          </p:cNvPr>
          <p:cNvSpPr/>
          <p:nvPr/>
        </p:nvSpPr>
        <p:spPr>
          <a:xfrm>
            <a:off x="-1066800" y="-571500"/>
            <a:ext cx="20116800" cy="112776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444" b="-1744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7236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C1FF72"/>
                </a:solidFill>
                <a:latin typeface="Space Age"/>
              </a:rPr>
              <a:t>FUNCTIONALITIES AND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783080"/>
            <a:ext cx="1723644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30352" y="1874519"/>
            <a:ext cx="1723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8D4A8"/>
                </a:solidFill>
                <a:latin typeface="Poppins"/>
              </a:rPr>
              <a:t>Functionalities with the solution explaining the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2267712"/>
            <a:ext cx="1723644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237744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822"/>
                </a:solidFill>
                <a:latin typeface="Poppins"/>
              </a:rPr>
              <a:t>FUNCTIONALITY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8997696" y="2377440"/>
            <a:ext cx="36576" cy="72237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0" y="23774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1FF72"/>
                </a:solidFill>
                <a:latin typeface="Poppins"/>
              </a:rPr>
              <a:t>HOW IT WORKS — THE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" y="2770632"/>
            <a:ext cx="1723644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0352" y="2852928"/>
            <a:ext cx="8430768" cy="1197864"/>
          </a:xfrm>
          <a:prstGeom prst="rect">
            <a:avLst/>
          </a:prstGeom>
          <a:solidFill>
            <a:srgbClr val="0A1006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0352" y="2852928"/>
            <a:ext cx="50292" cy="1197864"/>
          </a:xfrm>
          <a:prstGeom prst="rect">
            <a:avLst/>
          </a:prstGeom>
          <a:solidFill>
            <a:srgbClr val="FF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962656"/>
            <a:ext cx="813816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8822"/>
                </a:solidFill>
                <a:latin typeface="Poppins"/>
              </a:rPr>
              <a:t>Multi-Label 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34272" y="2852928"/>
            <a:ext cx="8732520" cy="1197864"/>
          </a:xfrm>
          <a:prstGeom prst="rect">
            <a:avLst/>
          </a:prstGeom>
          <a:solidFill>
            <a:srgbClr val="040C0C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034272" y="2852928"/>
            <a:ext cx="50292" cy="1197864"/>
          </a:xfrm>
          <a:prstGeom prst="rect">
            <a:avLst/>
          </a:prstGeom>
          <a:solidFill>
            <a:srgbClr val="FF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98864" y="2944368"/>
            <a:ext cx="84124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/>
              </a:rPr>
              <a:t>A single comment passes through the multi-label head of the classifier simultaneously, producing independent confidence scores for Toxic, Sarcastic, and Cyberbullying — one comment can trigger all three labels at once.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4087368"/>
            <a:ext cx="8430768" cy="1197864"/>
          </a:xfrm>
          <a:prstGeom prst="rect">
            <a:avLst/>
          </a:prstGeom>
          <a:solidFill>
            <a:srgbClr val="0A1006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30352" y="4087368"/>
            <a:ext cx="50292" cy="1197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197096"/>
            <a:ext cx="813816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  <a:latin typeface="Poppins"/>
              </a:rPr>
              <a:t>Severity Scoring (0–100%)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34272" y="4087368"/>
            <a:ext cx="8732520" cy="1197864"/>
          </a:xfrm>
          <a:prstGeom prst="rect">
            <a:avLst/>
          </a:prstGeom>
          <a:solidFill>
            <a:srgbClr val="040C0C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34272" y="4087368"/>
            <a:ext cx="50292" cy="1197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98864" y="4178808"/>
            <a:ext cx="84124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/>
              </a:rPr>
              <a:t>Softmax probability over each label class is converted to a 0–100% severity score. Scores above configurable thresholds trigger moderation actions, enabling tiered responses (warn / restrict / remove).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5321808"/>
            <a:ext cx="8430768" cy="1197864"/>
          </a:xfrm>
          <a:prstGeom prst="rect">
            <a:avLst/>
          </a:prstGeom>
          <a:solidFill>
            <a:srgbClr val="0A1006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0352" y="5321808"/>
            <a:ext cx="50292" cy="1197864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431536"/>
            <a:ext cx="813816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1FF72"/>
                </a:solidFill>
                <a:latin typeface="Poppins"/>
              </a:rPr>
              <a:t>Tanglish Normalizer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4272" y="5321808"/>
            <a:ext cx="8732520" cy="1197864"/>
          </a:xfrm>
          <a:prstGeom prst="rect">
            <a:avLst/>
          </a:prstGeom>
          <a:solidFill>
            <a:srgbClr val="040C0C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34272" y="5321808"/>
            <a:ext cx="50292" cy="1197864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98864" y="5413248"/>
            <a:ext cx="84124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/>
              </a:rPr>
              <a:t>A phonetic mapping table maps character-level variants of Tamil words to a canonical root form before tokenization. This ensures the classifier sees consistent input regardless of how a user spells a word.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" y="6556248"/>
            <a:ext cx="8430768" cy="1197864"/>
          </a:xfrm>
          <a:prstGeom prst="rect">
            <a:avLst/>
          </a:prstGeom>
          <a:solidFill>
            <a:srgbClr val="0A1006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30352" y="6556248"/>
            <a:ext cx="50292" cy="1197864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6665976"/>
            <a:ext cx="813816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DDBB"/>
                </a:solidFill>
                <a:latin typeface="Poppins"/>
              </a:rPr>
              <a:t>Cultural Context Engine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34272" y="6556248"/>
            <a:ext cx="8732520" cy="1197864"/>
          </a:xfrm>
          <a:prstGeom prst="rect">
            <a:avLst/>
          </a:prstGeom>
          <a:solidFill>
            <a:srgbClr val="040C0C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34272" y="6556248"/>
            <a:ext cx="50292" cy="1197864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98864" y="6647688"/>
            <a:ext cx="84124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/>
              </a:rPr>
              <a:t>When the classifier flags sarcasm, a knowledge-base lookup identifies whether a phrase is a known film dialogue, meme template, or internet slang — and retrieves the cultural origin and typical intent.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0352" y="7790688"/>
            <a:ext cx="8430768" cy="1197864"/>
          </a:xfrm>
          <a:prstGeom prst="rect">
            <a:avLst/>
          </a:prstGeom>
          <a:solidFill>
            <a:srgbClr val="0A1006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30352" y="7790688"/>
            <a:ext cx="50292" cy="1197864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7900416"/>
            <a:ext cx="813816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5555"/>
                </a:solidFill>
                <a:latin typeface="Poppins"/>
              </a:rPr>
              <a:t>Explainable AI Output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34272" y="7790688"/>
            <a:ext cx="8732520" cy="1197864"/>
          </a:xfrm>
          <a:prstGeom prst="rect">
            <a:avLst/>
          </a:prstGeom>
          <a:solidFill>
            <a:srgbClr val="040C0C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034272" y="7790688"/>
            <a:ext cx="50292" cy="1197864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98864" y="7882128"/>
            <a:ext cx="84124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/>
              </a:rPr>
              <a:t>The XAI layer stitches classifier output with the cultural context result to generate a plain-English explanation: which phrase triggered the flag, why it is harmful, and its origin — ready for a human moderator.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" y="9025128"/>
            <a:ext cx="8430768" cy="1197864"/>
          </a:xfrm>
          <a:prstGeom prst="rect">
            <a:avLst/>
          </a:prstGeom>
          <a:solidFill>
            <a:srgbClr val="0A1006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30352" y="9025128"/>
            <a:ext cx="50292" cy="1197864"/>
          </a:xfrm>
          <a:prstGeom prst="rect">
            <a:avLst/>
          </a:prstGeom>
          <a:solidFill>
            <a:srgbClr val="CC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" y="9134856"/>
            <a:ext cx="813816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C88FF"/>
                </a:solidFill>
                <a:latin typeface="Poppins"/>
              </a:rPr>
              <a:t>API-Ready JSON Output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34272" y="9025128"/>
            <a:ext cx="8732520" cy="1197864"/>
          </a:xfrm>
          <a:prstGeom prst="rect">
            <a:avLst/>
          </a:prstGeom>
          <a:solidFill>
            <a:srgbClr val="040C0C"/>
          </a:solidFill>
          <a:ln w="635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034272" y="9025128"/>
            <a:ext cx="50292" cy="1197864"/>
          </a:xfrm>
          <a:prstGeom prst="rect">
            <a:avLst/>
          </a:prstGeom>
          <a:solidFill>
            <a:srgbClr val="CC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98864" y="9116568"/>
            <a:ext cx="8412480" cy="1088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8D4A8"/>
                </a:solidFill>
                <a:latin typeface="Calibri"/>
              </a:rPr>
              <a:t>All outputs are serialized into a structured JSON response (label, score, normalized_text, explanation, severity) making SOLX a drop-in moderation microservice for any content platform's backend.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444" b="-1744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838200" y="773669"/>
            <a:ext cx="10326203" cy="80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41"/>
              </a:lnSpc>
            </a:pPr>
            <a:r>
              <a:rPr lang="en-US" sz="5200" dirty="0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PROPOSED SOLUTION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1028700" y="8765821"/>
            <a:ext cx="123568" cy="492479"/>
          </a:xfrm>
          <a:custGeom>
            <a:avLst/>
            <a:gdLst/>
            <a:ahLst/>
            <a:cxnLst/>
            <a:rect l="l" t="t" r="r" b="b"/>
            <a:pathLst>
              <a:path w="123568" h="492479">
                <a:moveTo>
                  <a:pt x="0" y="0"/>
                </a:moveTo>
                <a:lnTo>
                  <a:pt x="123568" y="0"/>
                </a:lnTo>
                <a:lnTo>
                  <a:pt x="123568" y="492479"/>
                </a:lnTo>
                <a:lnTo>
                  <a:pt x="0" y="4924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8200" y="2012737"/>
            <a:ext cx="1627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 dirty="0">
                <a:solidFill>
                  <a:srgbClr val="B8D4A8"/>
                </a:solidFill>
                <a:latin typeface="Poppins"/>
              </a:rPr>
              <a:t>3-Stage AI Pipeline — Normalizer  &gt;  Classifier  &gt;  Explainer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2731583"/>
            <a:ext cx="162763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5320" y="3406140"/>
            <a:ext cx="5440680" cy="64008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3430515"/>
            <a:ext cx="5440680" cy="50292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99197" y="3698153"/>
            <a:ext cx="594360" cy="530352"/>
          </a:xfrm>
          <a:prstGeom prst="rect">
            <a:avLst/>
          </a:prstGeom>
          <a:solidFill>
            <a:srgbClr val="081A08"/>
          </a:solidFill>
          <a:ln w="12700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6800" y="3771271"/>
            <a:ext cx="5760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C1FF72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2600" y="3681975"/>
            <a:ext cx="4434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FFFFF"/>
                </a:solidFill>
                <a:latin typeface="Poppins"/>
              </a:rPr>
              <a:t>Typo &amp; Slang
Normalizer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2500" y="4411980"/>
            <a:ext cx="4533900" cy="530352"/>
          </a:xfrm>
          <a:prstGeom prst="rect">
            <a:avLst/>
          </a:prstGeom>
          <a:solidFill>
            <a:srgbClr val="081A08"/>
          </a:solidFill>
          <a:ln w="9525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7992" y="4503933"/>
            <a:ext cx="509320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C1FF72"/>
                </a:solidFill>
                <a:latin typeface="Poppins"/>
              </a:rPr>
              <a:t>Preprocessing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143500"/>
            <a:ext cx="512064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Phonetic mapping of spelling variants</a:t>
            </a: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'</a:t>
            </a:r>
            <a:r>
              <a:rPr sz="1600" b="0" dirty="0" err="1">
                <a:solidFill>
                  <a:srgbClr val="B8D4A8"/>
                </a:solidFill>
                <a:latin typeface="Calibri"/>
              </a:rPr>
              <a:t>enna</a:t>
            </a:r>
            <a:r>
              <a:rPr sz="1600" b="0" dirty="0">
                <a:solidFill>
                  <a:srgbClr val="B8D4A8"/>
                </a:solidFill>
                <a:latin typeface="Calibri"/>
              </a:rPr>
              <a:t>' / '</a:t>
            </a:r>
            <a:r>
              <a:rPr sz="1600" b="0" dirty="0" err="1">
                <a:solidFill>
                  <a:srgbClr val="B8D4A8"/>
                </a:solidFill>
                <a:latin typeface="Calibri"/>
              </a:rPr>
              <a:t>yenna</a:t>
            </a:r>
            <a:r>
              <a:rPr sz="1600" b="0" dirty="0">
                <a:solidFill>
                  <a:srgbClr val="B8D4A8"/>
                </a:solidFill>
                <a:latin typeface="Calibri"/>
              </a:rPr>
              <a:t>' / '</a:t>
            </a:r>
            <a:r>
              <a:rPr sz="1600" b="0" dirty="0" err="1">
                <a:solidFill>
                  <a:srgbClr val="B8D4A8"/>
                </a:solidFill>
                <a:latin typeface="Calibri"/>
              </a:rPr>
              <a:t>ena</a:t>
            </a:r>
            <a:r>
              <a:rPr sz="1600" b="0" dirty="0">
                <a:solidFill>
                  <a:srgbClr val="B8D4A8"/>
                </a:solidFill>
                <a:latin typeface="Calibri"/>
              </a:rPr>
              <a:t>'  -&gt;  unified root</a:t>
            </a: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Internet slang &amp; abbreviation lookup</a:t>
            </a: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Character-level embedding similarity</a:t>
            </a: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Output: clean, normalized </a:t>
            </a:r>
            <a:r>
              <a:rPr sz="1600" b="0" dirty="0" err="1">
                <a:solidFill>
                  <a:srgbClr val="B8D4A8"/>
                </a:solidFill>
                <a:latin typeface="Calibri"/>
              </a:rPr>
              <a:t>Tanglish</a:t>
            </a:r>
            <a:r>
              <a:rPr sz="1600" b="0" dirty="0">
                <a:solidFill>
                  <a:srgbClr val="B8D4A8"/>
                </a:solidFill>
                <a:latin typeface="Calibri"/>
              </a:rPr>
              <a:t> 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98920" y="3455661"/>
            <a:ext cx="5440680" cy="64008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98920" y="3474720"/>
            <a:ext cx="5440680" cy="5029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0" y="3682597"/>
            <a:ext cx="594360" cy="530352"/>
          </a:xfrm>
          <a:prstGeom prst="rect">
            <a:avLst/>
          </a:prstGeom>
          <a:solidFill>
            <a:srgbClr val="081A08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3751513"/>
            <a:ext cx="5760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FFD700"/>
                </a:solidFill>
                <a:latin typeface="Consol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0" y="3685179"/>
            <a:ext cx="4434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FFFFF"/>
                </a:solidFill>
                <a:latin typeface="Poppins"/>
              </a:rPr>
              <a:t>Multi-Label
Classifier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4399148"/>
            <a:ext cx="4434840" cy="543184"/>
          </a:xfrm>
          <a:prstGeom prst="rect">
            <a:avLst/>
          </a:prstGeom>
          <a:solidFill>
            <a:srgbClr val="081A08"/>
          </a:solidFill>
          <a:ln w="9525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41592" y="4523410"/>
            <a:ext cx="5093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FFD700"/>
                </a:solidFill>
                <a:latin typeface="Poppins"/>
              </a:rPr>
              <a:t>Core NLP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1800" y="5261128"/>
            <a:ext cx="512064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Fine-tuned MuRIL / XLM-</a:t>
            </a:r>
            <a:r>
              <a:rPr sz="1600" b="0" dirty="0" err="1">
                <a:solidFill>
                  <a:srgbClr val="B8D4A8"/>
                </a:solidFill>
                <a:latin typeface="Calibri"/>
              </a:rPr>
              <a:t>RoBERTa</a:t>
            </a:r>
            <a:r>
              <a:rPr sz="1600" b="0" dirty="0">
                <a:solidFill>
                  <a:srgbClr val="B8D4A8"/>
                </a:solidFill>
                <a:latin typeface="Calibri"/>
              </a:rPr>
              <a:t> model</a:t>
            </a: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Categories: Toxic / Sarcastic / Cyberbullying</a:t>
            </a: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Confidence score 0-100% per category</a:t>
            </a: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Single comment can trigger multiple labels</a:t>
            </a: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Handles Tamil-English code-switching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527280" y="3474720"/>
            <a:ext cx="5440680" cy="64008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2527280" y="3474720"/>
            <a:ext cx="5440680" cy="50292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2724257" y="3718560"/>
            <a:ext cx="594360" cy="530352"/>
          </a:xfrm>
          <a:prstGeom prst="rect">
            <a:avLst/>
          </a:prstGeom>
          <a:solidFill>
            <a:srgbClr val="081A08"/>
          </a:solidFill>
          <a:ln w="12700">
            <a:solidFill>
              <a:srgbClr val="22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12727927" y="3782525"/>
            <a:ext cx="5760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22DDBB"/>
                </a:solidFill>
                <a:latin typeface="Consola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09676" y="3694550"/>
            <a:ext cx="4434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FFFFFF"/>
                </a:solidFill>
                <a:latin typeface="Poppins"/>
              </a:rPr>
              <a:t>Cultural Context
Explainer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730416" y="4411980"/>
            <a:ext cx="4528884" cy="530352"/>
          </a:xfrm>
          <a:prstGeom prst="rect">
            <a:avLst/>
          </a:prstGeom>
          <a:solidFill>
            <a:srgbClr val="081A08"/>
          </a:solidFill>
          <a:ln w="9525">
            <a:solidFill>
              <a:srgbClr val="22D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563856" y="4514994"/>
            <a:ext cx="50932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22DDBB"/>
                </a:solidFill>
                <a:latin typeface="Poppins"/>
              </a:rPr>
              <a:t>Explainable AI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47320" y="5259471"/>
            <a:ext cx="512064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Knowledge-base of Tamil film dialogues</a:t>
            </a: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Maps phrase to meme template or dialogue</a:t>
            </a: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Identifies sarcasm vehicle and intent</a:t>
            </a: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Plain-English moderator explanation</a:t>
            </a:r>
          </a:p>
          <a:p>
            <a:pPr>
              <a:spcBef>
                <a:spcPts val="900"/>
              </a:spcBef>
            </a:pPr>
            <a:r>
              <a:rPr sz="1600" b="0" dirty="0">
                <a:solidFill>
                  <a:srgbClr val="B8D4A8"/>
                </a:solidFill>
                <a:latin typeface="Calibri"/>
              </a:rPr>
              <a:t>  ‣  Severity score + structured JSON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630936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3A5A3A"/>
                </a:solidFill>
                <a:latin typeface="Consolas"/>
              </a:rPr>
              <a:t>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15800" y="630936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A5A3A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444" b="-1744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533400" y="853689"/>
            <a:ext cx="13845498" cy="787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5"/>
              </a:lnSpc>
            </a:pPr>
            <a:r>
              <a:rPr lang="en-US" sz="5200" dirty="0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UML DIAGRAM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E0ED1A07-4845-894A-428D-49208658E83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444" b="-1744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9125EF40-1DD5-1638-4E98-E3623A7B3746}"/>
              </a:ext>
            </a:extLst>
          </p:cNvPr>
          <p:cNvSpPr txBox="1"/>
          <p:nvPr/>
        </p:nvSpPr>
        <p:spPr>
          <a:xfrm>
            <a:off x="533400" y="853689"/>
            <a:ext cx="13845498" cy="787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5"/>
              </a:lnSpc>
            </a:pPr>
            <a:r>
              <a:rPr lang="en-US" sz="5200" dirty="0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UML DIAGRAM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BFC68-62CB-25D0-C78E-FE657B246411}"/>
              </a:ext>
            </a:extLst>
          </p:cNvPr>
          <p:cNvSpPr txBox="1"/>
          <p:nvPr/>
        </p:nvSpPr>
        <p:spPr>
          <a:xfrm>
            <a:off x="762000" y="1995193"/>
            <a:ext cx="1627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 dirty="0">
                <a:solidFill>
                  <a:srgbClr val="B8D4A8"/>
                </a:solidFill>
                <a:latin typeface="Poppins"/>
              </a:rPr>
              <a:t>Technologies &amp; System Architecture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5B6CA2-D2FB-97EA-F6F1-DAC3B5A9CE78}"/>
              </a:ext>
            </a:extLst>
          </p:cNvPr>
          <p:cNvSpPr/>
          <p:nvPr/>
        </p:nvSpPr>
        <p:spPr>
          <a:xfrm>
            <a:off x="762000" y="2802489"/>
            <a:ext cx="162763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F922056-E86C-A990-8172-2FEACDDF7E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672"/>
          <a:stretch>
            <a:fillRect/>
          </a:stretch>
        </p:blipFill>
        <p:spPr>
          <a:xfrm>
            <a:off x="447684" y="3086100"/>
            <a:ext cx="8696316" cy="67767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06B0B83-AE80-2646-7161-6C41EF8C49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778"/>
          <a:stretch>
            <a:fillRect/>
          </a:stretch>
        </p:blipFill>
        <p:spPr>
          <a:xfrm>
            <a:off x="9528352" y="3093720"/>
            <a:ext cx="8454848" cy="67767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E0F88-8C14-FB13-33F1-A2F7393BA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3586EF-2B77-C7A8-7D02-A4FE407E857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444" b="-1744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5C3FE4E-B9F4-1CA1-B390-218CE4B55F79}"/>
              </a:ext>
            </a:extLst>
          </p:cNvPr>
          <p:cNvSpPr txBox="1"/>
          <p:nvPr/>
        </p:nvSpPr>
        <p:spPr>
          <a:xfrm>
            <a:off x="533400" y="853689"/>
            <a:ext cx="13845498" cy="787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5"/>
              </a:lnSpc>
            </a:pPr>
            <a:r>
              <a:rPr lang="en-US" sz="5200" dirty="0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UML DIAGRAM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BEC229F6-56A2-380C-122C-2C70CE2490AD}"/>
              </a:ext>
            </a:extLst>
          </p:cNvPr>
          <p:cNvSpPr/>
          <p:nvPr/>
        </p:nvSpPr>
        <p:spPr>
          <a:xfrm>
            <a:off x="2458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444" b="-1744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00145169-E99E-AD48-F726-954A0882E52C}"/>
              </a:ext>
            </a:extLst>
          </p:cNvPr>
          <p:cNvSpPr/>
          <p:nvPr/>
        </p:nvSpPr>
        <p:spPr>
          <a:xfrm>
            <a:off x="-34413" y="-68580"/>
            <a:ext cx="18346994" cy="1054608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444" b="-1744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9B3E6B-187E-AD8C-A9A9-D051C4E478CA}"/>
              </a:ext>
            </a:extLst>
          </p:cNvPr>
          <p:cNvSpPr txBox="1"/>
          <p:nvPr/>
        </p:nvSpPr>
        <p:spPr>
          <a:xfrm>
            <a:off x="530352" y="190500"/>
            <a:ext cx="13716000" cy="102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 dirty="0">
                <a:solidFill>
                  <a:srgbClr val="C1FF72"/>
                </a:solidFill>
                <a:latin typeface="Space Age"/>
              </a:rPr>
              <a:t>TECH STACK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B7880D-979E-FB8E-5FE9-2CE88C7D5594}"/>
              </a:ext>
            </a:extLst>
          </p:cNvPr>
          <p:cNvSpPr/>
          <p:nvPr/>
        </p:nvSpPr>
        <p:spPr>
          <a:xfrm>
            <a:off x="530352" y="1783080"/>
            <a:ext cx="17236440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3011E1-44E7-A94E-68EA-E26A2B78CC06}"/>
              </a:ext>
            </a:extLst>
          </p:cNvPr>
          <p:cNvSpPr/>
          <p:nvPr/>
        </p:nvSpPr>
        <p:spPr>
          <a:xfrm>
            <a:off x="530352" y="1920240"/>
            <a:ext cx="17236440" cy="530352"/>
          </a:xfrm>
          <a:prstGeom prst="rect">
            <a:avLst/>
          </a:prstGeom>
          <a:solidFill>
            <a:srgbClr val="081408"/>
          </a:solidFill>
          <a:ln w="1016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A0652E-D892-0A97-A748-EB86787F9F6E}"/>
              </a:ext>
            </a:extLst>
          </p:cNvPr>
          <p:cNvSpPr txBox="1"/>
          <p:nvPr/>
        </p:nvSpPr>
        <p:spPr>
          <a:xfrm>
            <a:off x="576072" y="1956816"/>
            <a:ext cx="17145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 dirty="0">
                <a:solidFill>
                  <a:srgbClr val="C1FF72"/>
                </a:solidFill>
                <a:latin typeface="Consolas"/>
              </a:rPr>
              <a:t>Raw </a:t>
            </a:r>
            <a:r>
              <a:rPr sz="1300" b="0" i="0" dirty="0" err="1">
                <a:solidFill>
                  <a:srgbClr val="C1FF72"/>
                </a:solidFill>
                <a:latin typeface="Consolas"/>
              </a:rPr>
              <a:t>Tanglish</a:t>
            </a:r>
            <a:r>
              <a:rPr sz="1300" b="0" i="0" dirty="0">
                <a:solidFill>
                  <a:srgbClr val="C1FF72"/>
                </a:solidFill>
                <a:latin typeface="Consolas"/>
              </a:rPr>
              <a:t> Input  »  Phonetic Normalizer  »  MuRIL Classifier  »  Cultural Context Engine  »  JSON Output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CC0A70-092F-8E99-6D61-6DC351FA92C9}"/>
              </a:ext>
            </a:extLst>
          </p:cNvPr>
          <p:cNvSpPr/>
          <p:nvPr/>
        </p:nvSpPr>
        <p:spPr>
          <a:xfrm>
            <a:off x="530352" y="2606040"/>
            <a:ext cx="4224528" cy="4937760"/>
          </a:xfrm>
          <a:prstGeom prst="rect">
            <a:avLst/>
          </a:prstGeom>
          <a:solidFill>
            <a:srgbClr val="0C1C0C"/>
          </a:solidFill>
          <a:ln w="1016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F61FC3-D25A-4E13-E3C8-94D981AFFE56}"/>
              </a:ext>
            </a:extLst>
          </p:cNvPr>
          <p:cNvSpPr/>
          <p:nvPr/>
        </p:nvSpPr>
        <p:spPr>
          <a:xfrm>
            <a:off x="530352" y="2606040"/>
            <a:ext cx="4224528" cy="54864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D7B67E-C3F7-E139-E876-55FB2C6FDA64}"/>
              </a:ext>
            </a:extLst>
          </p:cNvPr>
          <p:cNvSpPr txBox="1"/>
          <p:nvPr/>
        </p:nvSpPr>
        <p:spPr>
          <a:xfrm>
            <a:off x="694944" y="2734056"/>
            <a:ext cx="3950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1FF72"/>
                </a:solidFill>
                <a:latin typeface="Poppins"/>
              </a:rPr>
              <a:t>NLP &amp; AI Models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7CD39E0-AE1E-B854-3FF4-BE50CAF9D50A}"/>
              </a:ext>
            </a:extLst>
          </p:cNvPr>
          <p:cNvSpPr/>
          <p:nvPr/>
        </p:nvSpPr>
        <p:spPr>
          <a:xfrm>
            <a:off x="694944" y="3200400"/>
            <a:ext cx="3904488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D3BDAB-CC89-2948-9C49-BD4FFB1CF6A4}"/>
              </a:ext>
            </a:extLst>
          </p:cNvPr>
          <p:cNvSpPr txBox="1"/>
          <p:nvPr/>
        </p:nvSpPr>
        <p:spPr>
          <a:xfrm>
            <a:off x="694944" y="3319272"/>
            <a:ext cx="395020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Python 3.11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HuggingFace Transformers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MuRIL — Multilingual BERT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XLM-RoBERTa (fallback)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scikit-learn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NLTK  /  spaCy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B3B9A0-7AA6-3C09-A556-4BAF82B41E20}"/>
              </a:ext>
            </a:extLst>
          </p:cNvPr>
          <p:cNvSpPr/>
          <p:nvPr/>
        </p:nvSpPr>
        <p:spPr>
          <a:xfrm>
            <a:off x="4809744" y="2606040"/>
            <a:ext cx="4224528" cy="4937760"/>
          </a:xfrm>
          <a:prstGeom prst="rect">
            <a:avLst/>
          </a:prstGeom>
          <a:solidFill>
            <a:srgbClr val="0C1C0C"/>
          </a:solidFill>
          <a:ln w="1016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EDE4AE-B29A-6379-DEE0-AF0E0D3D5DCB}"/>
              </a:ext>
            </a:extLst>
          </p:cNvPr>
          <p:cNvSpPr/>
          <p:nvPr/>
        </p:nvSpPr>
        <p:spPr>
          <a:xfrm>
            <a:off x="4809744" y="2606040"/>
            <a:ext cx="4224528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DC7B8-490D-FB8F-1EE6-C45551543789}"/>
              </a:ext>
            </a:extLst>
          </p:cNvPr>
          <p:cNvSpPr txBox="1"/>
          <p:nvPr/>
        </p:nvSpPr>
        <p:spPr>
          <a:xfrm>
            <a:off x="4974336" y="2734056"/>
            <a:ext cx="3950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  <a:latin typeface="Poppins"/>
              </a:rPr>
              <a:t>Data &amp; Processing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1869AE-0E5B-DB38-075C-201132541D83}"/>
              </a:ext>
            </a:extLst>
          </p:cNvPr>
          <p:cNvSpPr/>
          <p:nvPr/>
        </p:nvSpPr>
        <p:spPr>
          <a:xfrm>
            <a:off x="4974336" y="3200400"/>
            <a:ext cx="3904488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8B3E89-EA89-A8AD-7B81-029DB955E5F4}"/>
              </a:ext>
            </a:extLst>
          </p:cNvPr>
          <p:cNvSpPr txBox="1"/>
          <p:nvPr/>
        </p:nvSpPr>
        <p:spPr>
          <a:xfrm>
            <a:off x="4974336" y="3319272"/>
            <a:ext cx="395020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Custom Tanglish Corpus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Phonetic Mapping Tables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Regex Normalizer Engine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Pandas  /  NumPy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Label Studio (annotation)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HASOC / Dravidian-CodeMix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C1B127E-F259-D2C3-C8FF-8C7115B163FD}"/>
              </a:ext>
            </a:extLst>
          </p:cNvPr>
          <p:cNvSpPr/>
          <p:nvPr/>
        </p:nvSpPr>
        <p:spPr>
          <a:xfrm>
            <a:off x="9089136" y="2606040"/>
            <a:ext cx="4224528" cy="4937760"/>
          </a:xfrm>
          <a:prstGeom prst="rect">
            <a:avLst/>
          </a:prstGeom>
          <a:solidFill>
            <a:srgbClr val="0C1C0C"/>
          </a:solidFill>
          <a:ln w="1016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A9A3780-8D56-C68F-9420-8F057E21C245}"/>
              </a:ext>
            </a:extLst>
          </p:cNvPr>
          <p:cNvSpPr/>
          <p:nvPr/>
        </p:nvSpPr>
        <p:spPr>
          <a:xfrm>
            <a:off x="9089136" y="2606040"/>
            <a:ext cx="4224528" cy="54864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BE4565-6248-8F04-D31C-AC777FD4218B}"/>
              </a:ext>
            </a:extLst>
          </p:cNvPr>
          <p:cNvSpPr txBox="1"/>
          <p:nvPr/>
        </p:nvSpPr>
        <p:spPr>
          <a:xfrm>
            <a:off x="9253728" y="2734056"/>
            <a:ext cx="3950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DDBB"/>
                </a:solidFill>
                <a:latin typeface="Poppins"/>
              </a:rPr>
              <a:t>Backend &amp; API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6A51FD8-A1D1-3134-D267-D49078FACE92}"/>
              </a:ext>
            </a:extLst>
          </p:cNvPr>
          <p:cNvSpPr/>
          <p:nvPr/>
        </p:nvSpPr>
        <p:spPr>
          <a:xfrm>
            <a:off x="9253728" y="3200400"/>
            <a:ext cx="3904488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0AB601-CE57-C466-5D45-E0ABFE393F4E}"/>
              </a:ext>
            </a:extLst>
          </p:cNvPr>
          <p:cNvSpPr txBox="1"/>
          <p:nvPr/>
        </p:nvSpPr>
        <p:spPr>
          <a:xfrm>
            <a:off x="9253728" y="3319272"/>
            <a:ext cx="395020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FastAPI  +  Uvicorn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REST API  /  JSON Output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Pydantic Validation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Docker (deployment-ready)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OAuth2 (future scope)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Swagger Auto-Docs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FB23363-38FF-97DE-4225-0971A66C8287}"/>
              </a:ext>
            </a:extLst>
          </p:cNvPr>
          <p:cNvSpPr/>
          <p:nvPr/>
        </p:nvSpPr>
        <p:spPr>
          <a:xfrm>
            <a:off x="13368528" y="2606040"/>
            <a:ext cx="4224528" cy="4937760"/>
          </a:xfrm>
          <a:prstGeom prst="rect">
            <a:avLst/>
          </a:prstGeom>
          <a:solidFill>
            <a:srgbClr val="0C1C0C"/>
          </a:solidFill>
          <a:ln w="10160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CE00B2-D44B-1A0E-8817-C282D916FEAD}"/>
              </a:ext>
            </a:extLst>
          </p:cNvPr>
          <p:cNvSpPr/>
          <p:nvPr/>
        </p:nvSpPr>
        <p:spPr>
          <a:xfrm>
            <a:off x="13368528" y="2606040"/>
            <a:ext cx="4224528" cy="54864"/>
          </a:xfrm>
          <a:prstGeom prst="rect">
            <a:avLst/>
          </a:prstGeom>
          <a:solidFill>
            <a:srgbClr val="FF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0797D1-72A6-C8C5-FE75-A3C741653C26}"/>
              </a:ext>
            </a:extLst>
          </p:cNvPr>
          <p:cNvSpPr txBox="1"/>
          <p:nvPr/>
        </p:nvSpPr>
        <p:spPr>
          <a:xfrm>
            <a:off x="13533120" y="2734056"/>
            <a:ext cx="39502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8822"/>
                </a:solidFill>
                <a:latin typeface="Poppins"/>
              </a:rPr>
              <a:t>Frontend &amp; Demo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5FE8084-9EC7-8D5C-FE56-F4276B9A1B74}"/>
              </a:ext>
            </a:extLst>
          </p:cNvPr>
          <p:cNvSpPr/>
          <p:nvPr/>
        </p:nvSpPr>
        <p:spPr>
          <a:xfrm>
            <a:off x="13533120" y="3200400"/>
            <a:ext cx="3904488" cy="20116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EE47B7-C08B-EB80-DCB3-B5198C9BCFA2}"/>
              </a:ext>
            </a:extLst>
          </p:cNvPr>
          <p:cNvSpPr txBox="1"/>
          <p:nvPr/>
        </p:nvSpPr>
        <p:spPr>
          <a:xfrm>
            <a:off x="13533120" y="3319272"/>
            <a:ext cx="3950208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HTML5  /  CSS3  /  JS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Cyber-green dark UI theme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GitHub Pages hosting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Responsive design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8 live demo examples</a:t>
            </a:r>
          </a:p>
          <a:p>
            <a:pPr>
              <a:spcBef>
                <a:spcPts val="700"/>
              </a:spcBef>
            </a:pPr>
            <a:r>
              <a:rPr sz="1600">
                <a:solidFill>
                  <a:srgbClr val="B8D4A8"/>
                </a:solidFill>
                <a:latin typeface="Calibri"/>
              </a:rPr>
              <a:t>  ▸  ssr446.github.io/SOLX_Sample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3C0C551-5336-80CA-74BE-ADDB7885890A}"/>
              </a:ext>
            </a:extLst>
          </p:cNvPr>
          <p:cNvSpPr/>
          <p:nvPr/>
        </p:nvSpPr>
        <p:spPr>
          <a:xfrm>
            <a:off x="530352" y="7662672"/>
            <a:ext cx="17236440" cy="2331720"/>
          </a:xfrm>
          <a:prstGeom prst="rect">
            <a:avLst/>
          </a:prstGeom>
          <a:solidFill>
            <a:srgbClr val="081408"/>
          </a:solidFill>
          <a:ln w="19050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8B78834-922A-CCD0-CCC0-DEA207CE3498}"/>
              </a:ext>
            </a:extLst>
          </p:cNvPr>
          <p:cNvSpPr/>
          <p:nvPr/>
        </p:nvSpPr>
        <p:spPr>
          <a:xfrm>
            <a:off x="530352" y="7662672"/>
            <a:ext cx="64008" cy="2331720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881EA98-15CC-7CD3-FDA8-4BFA865977CE}"/>
              </a:ext>
            </a:extLst>
          </p:cNvPr>
          <p:cNvSpPr txBox="1"/>
          <p:nvPr/>
        </p:nvSpPr>
        <p:spPr>
          <a:xfrm>
            <a:off x="777240" y="77998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1FF72"/>
                </a:solidFill>
                <a:latin typeface="Poppins"/>
              </a:rPr>
              <a:t>WHY SOLX IS UNIQUE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E11DECD-C5B6-2593-CF0E-93B8C1C1E85E}"/>
              </a:ext>
            </a:extLst>
          </p:cNvPr>
          <p:cNvSpPr/>
          <p:nvPr/>
        </p:nvSpPr>
        <p:spPr>
          <a:xfrm>
            <a:off x="777240" y="8257032"/>
            <a:ext cx="54864" cy="1463040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DB05181-C41E-2F3B-F47E-1B079B4EBC33}"/>
              </a:ext>
            </a:extLst>
          </p:cNvPr>
          <p:cNvSpPr txBox="1"/>
          <p:nvPr/>
        </p:nvSpPr>
        <p:spPr>
          <a:xfrm>
            <a:off x="905256" y="8229600"/>
            <a:ext cx="3931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/>
              </a:rPr>
              <a:t>First system to combine Tanglish normalization + hate detection + cultural explainability in one pipeline — no existing tool does all three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C5ED789-36E9-E622-12B7-839EEA36ADE1}"/>
              </a:ext>
            </a:extLst>
          </p:cNvPr>
          <p:cNvSpPr/>
          <p:nvPr/>
        </p:nvSpPr>
        <p:spPr>
          <a:xfrm>
            <a:off x="5093208" y="8257032"/>
            <a:ext cx="54864" cy="14630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AF32A75-1512-AA05-E6E2-624B1634F273}"/>
              </a:ext>
            </a:extLst>
          </p:cNvPr>
          <p:cNvSpPr txBox="1"/>
          <p:nvPr/>
        </p:nvSpPr>
        <p:spPr>
          <a:xfrm>
            <a:off x="5221224" y="8229600"/>
            <a:ext cx="3931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/>
              </a:rPr>
              <a:t>Cultural Context Engine acts like a "Tamil Internet Anthropologist" — identifies sarcasm that no keyword filter or generic NLP model can detect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30EB049-9F86-2740-C9F4-292B146CF48F}"/>
              </a:ext>
            </a:extLst>
          </p:cNvPr>
          <p:cNvSpPr/>
          <p:nvPr/>
        </p:nvSpPr>
        <p:spPr>
          <a:xfrm>
            <a:off x="9409176" y="8257032"/>
            <a:ext cx="54864" cy="1463040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D74E960-6C09-DF12-E3C9-C15D9925E199}"/>
              </a:ext>
            </a:extLst>
          </p:cNvPr>
          <p:cNvSpPr txBox="1"/>
          <p:nvPr/>
        </p:nvSpPr>
        <p:spPr>
          <a:xfrm>
            <a:off x="9537192" y="8229600"/>
            <a:ext cx="3931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/>
              </a:rPr>
              <a:t>Explainability-first design: generates moderator-ready plain-English explanations, not just toxic/non-toxic binary labels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0555AB9-9536-94D2-C5E3-C10B66D35304}"/>
              </a:ext>
            </a:extLst>
          </p:cNvPr>
          <p:cNvSpPr/>
          <p:nvPr/>
        </p:nvSpPr>
        <p:spPr>
          <a:xfrm>
            <a:off x="13725144" y="8257032"/>
            <a:ext cx="54864" cy="1463040"/>
          </a:xfrm>
          <a:prstGeom prst="rect">
            <a:avLst/>
          </a:prstGeom>
          <a:solidFill>
            <a:srgbClr val="FF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A4210C3-FF39-BD44-DD7D-847EC0E09BE5}"/>
              </a:ext>
            </a:extLst>
          </p:cNvPr>
          <p:cNvSpPr txBox="1"/>
          <p:nvPr/>
        </p:nvSpPr>
        <p:spPr>
          <a:xfrm>
            <a:off x="13853160" y="8229600"/>
            <a:ext cx="3931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/>
              </a:rPr>
              <a:t>Modular 3-stage architecture — each stage (Normalizer, Classifier, Explainer) can be independently upgraded without breaking the pipeline</a:t>
            </a:r>
          </a:p>
        </p:txBody>
      </p:sp>
    </p:spTree>
    <p:extLst>
      <p:ext uri="{BB962C8B-B14F-4D97-AF65-F5344CB8AC3E}">
        <p14:creationId xmlns:p14="http://schemas.microsoft.com/office/powerpoint/2010/main" val="2064278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444" b="-174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28600" y="648567"/>
            <a:ext cx="15035335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200" dirty="0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 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88843"/>
            <a:ext cx="162763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 dirty="0">
                <a:solidFill>
                  <a:srgbClr val="B8D4A8"/>
                </a:solidFill>
                <a:latin typeface="Poppins"/>
              </a:rPr>
              <a:t>Simulated end-to-end demo — click any example phrase at: </a:t>
            </a:r>
            <a:r>
              <a:rPr sz="1700" b="0" i="1" dirty="0">
                <a:solidFill>
                  <a:srgbClr val="C1FF72"/>
                </a:solidFill>
                <a:latin typeface="Poppins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ssr446.github.io/</a:t>
            </a:r>
            <a:r>
              <a:rPr sz="1700" b="0" i="1" dirty="0" err="1">
                <a:solidFill>
                  <a:srgbClr val="C1FF72"/>
                </a:solidFill>
                <a:latin typeface="Poppins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SOLX_Sample</a:t>
            </a:r>
            <a:endParaRPr sz="2200" b="0" i="1" dirty="0">
              <a:solidFill>
                <a:srgbClr val="C1FF72"/>
              </a:solidFill>
              <a:latin typeface="Poppin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2705909"/>
            <a:ext cx="162763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169640"/>
            <a:ext cx="7680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C1FF72"/>
                </a:solidFill>
                <a:latin typeface="Consolas"/>
              </a:rPr>
              <a:t>INPUT  (Raw </a:t>
            </a:r>
            <a:r>
              <a:rPr sz="1300" b="1" i="0" dirty="0" err="1">
                <a:solidFill>
                  <a:srgbClr val="C1FF72"/>
                </a:solidFill>
                <a:latin typeface="Consolas"/>
              </a:rPr>
              <a:t>Tanglish</a:t>
            </a:r>
            <a:r>
              <a:rPr sz="1300" b="1" i="0" dirty="0">
                <a:solidFill>
                  <a:srgbClr val="C1FF72"/>
                </a:solidFill>
                <a:latin typeface="Consolas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730752"/>
            <a:ext cx="7680960" cy="822960"/>
          </a:xfrm>
          <a:prstGeom prst="rect">
            <a:avLst/>
          </a:prstGeom>
          <a:solidFill>
            <a:srgbClr val="040E04"/>
          </a:solidFill>
          <a:ln w="15240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906012"/>
            <a:ext cx="7406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C1FF72"/>
                </a:solidFill>
                <a:latin typeface="Consolas"/>
              </a:rPr>
              <a:t>"</a:t>
            </a:r>
            <a:r>
              <a:rPr sz="1300" b="0" i="1" dirty="0" err="1">
                <a:solidFill>
                  <a:srgbClr val="C1FF72"/>
                </a:solidFill>
                <a:latin typeface="Consolas"/>
              </a:rPr>
              <a:t>Avaru</a:t>
            </a:r>
            <a:r>
              <a:rPr sz="1300" b="0" i="1" dirty="0">
                <a:solidFill>
                  <a:srgbClr val="C1FF72"/>
                </a:solidFill>
                <a:latin typeface="Consolas"/>
              </a:rPr>
              <a:t> </a:t>
            </a:r>
            <a:r>
              <a:rPr sz="1300" b="0" i="1" dirty="0" err="1">
                <a:solidFill>
                  <a:srgbClr val="C1FF72"/>
                </a:solidFill>
                <a:latin typeface="Consolas"/>
              </a:rPr>
              <a:t>periya</a:t>
            </a:r>
            <a:r>
              <a:rPr sz="1300" b="0" i="1" dirty="0">
                <a:solidFill>
                  <a:srgbClr val="C1FF72"/>
                </a:solidFill>
                <a:latin typeface="Consolas"/>
              </a:rPr>
              <a:t> </a:t>
            </a:r>
            <a:r>
              <a:rPr sz="1300" b="0" i="1" dirty="0" err="1">
                <a:solidFill>
                  <a:srgbClr val="C1FF72"/>
                </a:solidFill>
                <a:latin typeface="Consolas"/>
              </a:rPr>
              <a:t>Appatakar</a:t>
            </a:r>
            <a:r>
              <a:rPr sz="1300" b="0" i="1" dirty="0">
                <a:solidFill>
                  <a:srgbClr val="C1FF72"/>
                </a:solidFill>
                <a:latin typeface="Consolas"/>
              </a:rPr>
              <a:t> da, </a:t>
            </a:r>
            <a:r>
              <a:rPr sz="1300" b="0" i="1" dirty="0" err="1">
                <a:solidFill>
                  <a:srgbClr val="C1FF72"/>
                </a:solidFill>
                <a:latin typeface="Consolas"/>
              </a:rPr>
              <a:t>yenna</a:t>
            </a:r>
            <a:r>
              <a:rPr sz="1300" b="0" i="1" dirty="0">
                <a:solidFill>
                  <a:srgbClr val="C1FF72"/>
                </a:solidFill>
                <a:latin typeface="Consolas"/>
              </a:rPr>
              <a:t> </a:t>
            </a:r>
            <a:r>
              <a:rPr sz="1300" b="0" i="1" dirty="0" err="1">
                <a:solidFill>
                  <a:srgbClr val="C1FF72"/>
                </a:solidFill>
                <a:latin typeface="Consolas"/>
              </a:rPr>
              <a:t>pannuvanunga</a:t>
            </a:r>
            <a:r>
              <a:rPr sz="1300" b="0" i="1" dirty="0">
                <a:solidFill>
                  <a:srgbClr val="C1FF72"/>
                </a:solidFill>
                <a:latin typeface="Consolas"/>
              </a:rPr>
              <a:t>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80" y="4864608"/>
            <a:ext cx="7680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D700"/>
                </a:solidFill>
                <a:latin typeface="Consolas"/>
              </a:rPr>
              <a:t>NORMALIZED 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5376672"/>
            <a:ext cx="7680960" cy="822960"/>
          </a:xfrm>
          <a:prstGeom prst="rect">
            <a:avLst/>
          </a:prstGeom>
          <a:solidFill>
            <a:srgbClr val="040E04"/>
          </a:solidFill>
          <a:ln w="1524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5573268"/>
            <a:ext cx="7406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700"/>
                </a:solidFill>
                <a:latin typeface="Consolas"/>
              </a:rPr>
              <a:t>"Avar periya Aptakar da, enna pannuvanga"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417880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3A5A3A"/>
                </a:solidFill>
                <a:latin typeface="Consolas"/>
              </a:rPr>
              <a:t>v  Normalizer 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8567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3A5A3A"/>
                </a:solidFill>
                <a:latin typeface="Consolas"/>
              </a:rPr>
              <a:t>v  Classifier + Explainer  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370243"/>
            <a:ext cx="76809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5555"/>
                </a:solidFill>
                <a:latin typeface="Consolas"/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6748272"/>
            <a:ext cx="7680960" cy="3154680"/>
          </a:xfrm>
          <a:prstGeom prst="rect">
            <a:avLst/>
          </a:prstGeom>
          <a:solidFill>
            <a:srgbClr val="0C0606"/>
          </a:solidFill>
          <a:ln w="19050"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68580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Sarcasm: 82%   |   Cyberbullying: 74%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7406640"/>
            <a:ext cx="740664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B8D4A8"/>
                </a:solidFill>
                <a:latin typeface="Calibri"/>
              </a:rPr>
              <a:t>Cultural Ref: "</a:t>
            </a:r>
            <a:r>
              <a:rPr sz="1600" b="0" i="1" dirty="0" err="1">
                <a:solidFill>
                  <a:srgbClr val="B8D4A8"/>
                </a:solidFill>
                <a:latin typeface="Calibri"/>
              </a:rPr>
              <a:t>Appatakar</a:t>
            </a:r>
            <a:r>
              <a:rPr sz="1600" b="0" i="1" dirty="0">
                <a:solidFill>
                  <a:srgbClr val="B8D4A8"/>
                </a:solidFill>
                <a:latin typeface="Calibri"/>
              </a:rPr>
              <a:t>" — sarcastic title for
someone pretending to be superior.
Origin: </a:t>
            </a:r>
            <a:r>
              <a:rPr sz="1600" b="0" i="1" dirty="0" err="1">
                <a:solidFill>
                  <a:srgbClr val="B8D4A8"/>
                </a:solidFill>
                <a:latin typeface="Calibri"/>
              </a:rPr>
              <a:t>Tanglish</a:t>
            </a:r>
            <a:r>
              <a:rPr sz="1600" b="0" i="1" dirty="0">
                <a:solidFill>
                  <a:srgbClr val="B8D4A8"/>
                </a:solidFill>
                <a:latin typeface="Calibri"/>
              </a:rPr>
              <a:t> meme template (2019 onwards).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093720"/>
            <a:ext cx="88696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C1FF72"/>
                </a:solidFill>
                <a:latin typeface="Poppins"/>
              </a:rPr>
              <a:t>KEY FUNCTIONALITIES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3867912"/>
            <a:ext cx="886968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235440" y="3962400"/>
            <a:ext cx="8869680" cy="9144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35440" y="4069080"/>
            <a:ext cx="54864" cy="914400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18320" y="416052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C1FF72"/>
                </a:solidFill>
                <a:latin typeface="Poppins"/>
              </a:rPr>
              <a:t>Multi-Label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454456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8D4A8"/>
                </a:solidFill>
                <a:latin typeface="Calibri"/>
              </a:rPr>
              <a:t>Flags Toxic, Sarcastic, Cyberbullying simultaneously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5074920"/>
            <a:ext cx="8869680" cy="9144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35440" y="5074920"/>
            <a:ext cx="54864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0" y="516636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  <a:latin typeface="Poppins"/>
              </a:rPr>
              <a:t>Severity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555040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/>
              </a:rPr>
              <a:t>0-100% confidence score per detected label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6080760"/>
            <a:ext cx="8869680" cy="9144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235440" y="6080760"/>
            <a:ext cx="54864" cy="914400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18320" y="617220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DDBB"/>
                </a:solidFill>
                <a:latin typeface="Poppins"/>
              </a:rPr>
              <a:t>Tanglish Normalizer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655624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/>
              </a:rPr>
              <a:t>Resolves 50+ spelling variants per common Tamil word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7086600"/>
            <a:ext cx="8869680" cy="9144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235440" y="7086600"/>
            <a:ext cx="54864" cy="914400"/>
          </a:xfrm>
          <a:prstGeom prst="rect">
            <a:avLst/>
          </a:prstGeom>
          <a:solidFill>
            <a:srgbClr val="C1F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18320" y="717804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1FF72"/>
                </a:solidFill>
                <a:latin typeface="Poppins"/>
              </a:rPr>
              <a:t>Cultural Context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756208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/>
              </a:rPr>
              <a:t>Identifies film dialogues &amp; meme templates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8092440"/>
            <a:ext cx="8869680" cy="9144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235440" y="8092440"/>
            <a:ext cx="54864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18320" y="818388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D700"/>
                </a:solidFill>
                <a:latin typeface="Poppins"/>
              </a:rPr>
              <a:t>Explainable AI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856792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/>
              </a:rPr>
              <a:t>Plain-English justification for every decision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9098280"/>
            <a:ext cx="8869680" cy="914400"/>
          </a:xfrm>
          <a:prstGeom prst="rect">
            <a:avLst/>
          </a:prstGeom>
          <a:solidFill>
            <a:srgbClr val="0C1C0C"/>
          </a:solidFill>
          <a:ln w="9525">
            <a:solidFill>
              <a:srgbClr val="2A4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235440" y="9098280"/>
            <a:ext cx="54864" cy="914400"/>
          </a:xfrm>
          <a:prstGeom prst="rect">
            <a:avLst/>
          </a:prstGeom>
          <a:solidFill>
            <a:srgbClr val="22DD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18320" y="9189720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DDBB"/>
                </a:solidFill>
                <a:latin typeface="Poppins"/>
              </a:rPr>
              <a:t>API-Ready JSON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9573768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D4A8"/>
                </a:solidFill>
                <a:latin typeface="Calibri"/>
              </a:rPr>
              <a:t>Structured output plugs into any platform backend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444" b="-17444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338328" y="800100"/>
            <a:ext cx="15829929" cy="1820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58"/>
              </a:lnSpc>
            </a:pPr>
            <a:r>
              <a:rPr lang="en-US" sz="5200" dirty="0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REFERENCES &amp; CITATIONS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8328" y="2846097"/>
            <a:ext cx="17647920" cy="30427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38328" y="3237715"/>
            <a:ext cx="685800" cy="3628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C1FF72"/>
                </a:solidFill>
                <a:latin typeface="Consolas"/>
              </a:rPr>
              <a:t>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185160"/>
            <a:ext cx="16870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8D4A8"/>
                </a:solidFill>
                <a:latin typeface="Calibri"/>
              </a:rPr>
              <a:t>Chakravarthi, B. R. et al. (2021). Dravidian-</a:t>
            </a:r>
            <a:r>
              <a:rPr sz="1600" b="0" i="0" dirty="0" err="1">
                <a:solidFill>
                  <a:srgbClr val="B8D4A8"/>
                </a:solidFill>
                <a:latin typeface="Calibri"/>
              </a:rPr>
              <a:t>CodeMix</a:t>
            </a:r>
            <a:r>
              <a:rPr sz="1600" b="0" i="0" dirty="0">
                <a:solidFill>
                  <a:srgbClr val="B8D4A8"/>
                </a:solidFill>
                <a:latin typeface="Calibri"/>
              </a:rPr>
              <a:t>: Sentiment Analysis for Code-Mixed Social Media Text. Proceedings of EACL. ACL Anthology.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4026408"/>
            <a:ext cx="176479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4355676"/>
            <a:ext cx="685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C1FF72"/>
                </a:solidFill>
                <a:latin typeface="Consolas"/>
              </a:rPr>
              <a:t>[2]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4302252"/>
            <a:ext cx="16870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8D4A8"/>
                </a:solidFill>
                <a:latin typeface="Calibri"/>
              </a:rPr>
              <a:t>Kula, M. et al. (2020). Offensive Language Identification in Dravidian Languages. Proceedings of FIRE 2020 Workshop.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" y="5115892"/>
            <a:ext cx="17647920" cy="44549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5524191"/>
            <a:ext cx="685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C1FF72"/>
                </a:solidFill>
                <a:latin typeface="Consolas"/>
              </a:rPr>
              <a:t>[3]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415300"/>
            <a:ext cx="16870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8D4A8"/>
                </a:solidFill>
                <a:latin typeface="Calibri"/>
              </a:rPr>
              <a:t>Devlin, J. et al. (2019). BERT: Pre-training of Deep Bidirectional Transformers for Language Understanding. NAACL 2019. arXiv:1810.04805.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" y="6227065"/>
            <a:ext cx="176479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8" y="6613940"/>
            <a:ext cx="685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C1FF72"/>
                </a:solidFill>
                <a:latin typeface="Consolas"/>
              </a:rPr>
              <a:t>[4]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6552689"/>
            <a:ext cx="16870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 err="1">
                <a:solidFill>
                  <a:srgbClr val="B8D4A8"/>
                </a:solidFill>
                <a:latin typeface="Calibri"/>
              </a:rPr>
              <a:t>Conneau</a:t>
            </a:r>
            <a:r>
              <a:rPr sz="1600" b="0" i="0" dirty="0">
                <a:solidFill>
                  <a:srgbClr val="B8D4A8"/>
                </a:solidFill>
                <a:latin typeface="Calibri"/>
              </a:rPr>
              <a:t>, A. &amp; Lample, G. (2019). Cross-lingual Language Model Pretraining (XLM). </a:t>
            </a:r>
            <a:r>
              <a:rPr sz="1600" b="0" i="0" dirty="0" err="1">
                <a:solidFill>
                  <a:srgbClr val="B8D4A8"/>
                </a:solidFill>
                <a:latin typeface="Calibri"/>
              </a:rPr>
              <a:t>NeurIPS</a:t>
            </a:r>
            <a:r>
              <a:rPr sz="1600" b="0" i="0" dirty="0">
                <a:solidFill>
                  <a:srgbClr val="B8D4A8"/>
                </a:solidFill>
                <a:latin typeface="Calibri"/>
              </a:rPr>
              <a:t> 2019. arXiv:1901.07291.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7232804"/>
            <a:ext cx="176479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328" y="7588934"/>
            <a:ext cx="685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C1FF72"/>
                </a:solidFill>
                <a:latin typeface="Consolas"/>
              </a:rPr>
              <a:t>[5]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7525236"/>
            <a:ext cx="16870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8D4A8"/>
                </a:solidFill>
                <a:latin typeface="Calibri"/>
              </a:rPr>
              <a:t>Mandl, T. et al. (2020). Overview of the HASOC Track at FIRE 2020: Hate Speech and Offensive Content Identification. FIRE 2020.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8275421"/>
            <a:ext cx="1764792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" y="8663443"/>
            <a:ext cx="685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C1FF72"/>
                </a:solidFill>
                <a:latin typeface="Consolas"/>
              </a:rPr>
              <a:t>[6]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8512" y="8544993"/>
            <a:ext cx="16870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B8D4A8"/>
                </a:solidFill>
                <a:latin typeface="Calibri"/>
              </a:rPr>
              <a:t>Google Research (2021). MuRIL: Multilingual Representations for Indian Languages. arXiv:2103.10730.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444" b="-174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23493" y="7929022"/>
            <a:ext cx="5590915" cy="1329278"/>
          </a:xfrm>
          <a:custGeom>
            <a:avLst/>
            <a:gdLst/>
            <a:ahLst/>
            <a:cxnLst/>
            <a:rect l="l" t="t" r="r" b="b"/>
            <a:pathLst>
              <a:path w="5590915" h="1329278">
                <a:moveTo>
                  <a:pt x="0" y="0"/>
                </a:moveTo>
                <a:lnTo>
                  <a:pt x="5590916" y="0"/>
                </a:lnTo>
                <a:lnTo>
                  <a:pt x="5590916" y="1329278"/>
                </a:lnTo>
                <a:lnTo>
                  <a:pt x="0" y="13292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320577" y="7929022"/>
            <a:ext cx="5590915" cy="1329278"/>
          </a:xfrm>
          <a:custGeom>
            <a:avLst/>
            <a:gdLst/>
            <a:ahLst/>
            <a:cxnLst/>
            <a:rect l="l" t="t" r="r" b="b"/>
            <a:pathLst>
              <a:path w="5590915" h="1329278">
                <a:moveTo>
                  <a:pt x="5590916" y="0"/>
                </a:moveTo>
                <a:lnTo>
                  <a:pt x="0" y="0"/>
                </a:lnTo>
                <a:lnTo>
                  <a:pt x="0" y="1329278"/>
                </a:lnTo>
                <a:lnTo>
                  <a:pt x="5590916" y="1329278"/>
                </a:lnTo>
                <a:lnTo>
                  <a:pt x="55909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33908" y="4583213"/>
            <a:ext cx="14820184" cy="2255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20"/>
              </a:lnSpc>
            </a:pPr>
            <a:r>
              <a:rPr lang="en-US" sz="17417">
                <a:solidFill>
                  <a:srgbClr val="C1FF72"/>
                </a:solidFill>
                <a:latin typeface="Space Age"/>
                <a:ea typeface="Space Age"/>
                <a:cs typeface="Space Age"/>
                <a:sym typeface="Space Age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005840"/>
            <a:ext cx="1627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C1FF72"/>
                </a:solidFill>
                <a:latin typeface="Space Age"/>
              </a:rPr>
              <a:t>SOLX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1627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8D4A8"/>
                </a:solidFill>
                <a:latin typeface="Poppins"/>
              </a:rPr>
              <a:t>Sarcasm &amp; Online harm Locator with eXplainability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944368"/>
            <a:ext cx="10972800" cy="22860"/>
          </a:xfrm>
          <a:prstGeom prst="rect">
            <a:avLst/>
          </a:prstGeom>
          <a:solidFill>
            <a:srgbClr val="2A4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090672"/>
            <a:ext cx="1627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8822"/>
                </a:solidFill>
                <a:latin typeface="Poppins"/>
              </a:rPr>
              <a:t>Team  Inferno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611880"/>
            <a:ext cx="162763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0" i="0" dirty="0">
                <a:solidFill>
                  <a:srgbClr val="B8D4A8"/>
                </a:solidFill>
                <a:latin typeface="Poppins"/>
              </a:rPr>
              <a:t>Y </a:t>
            </a:r>
            <a:r>
              <a:rPr sz="1500" b="0" i="0" dirty="0">
                <a:solidFill>
                  <a:srgbClr val="B8D4A8"/>
                </a:solidFill>
                <a:latin typeface="Poppins"/>
              </a:rPr>
              <a:t>Roshni      |     Sai Shivaram LN     |     Archana Ramesh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6995160"/>
            <a:ext cx="6400800" cy="640080"/>
          </a:xfrm>
          <a:prstGeom prst="rect">
            <a:avLst/>
          </a:prstGeom>
          <a:solidFill>
            <a:srgbClr val="061206"/>
          </a:solidFill>
          <a:ln w="19050">
            <a:solidFill>
              <a:srgbClr val="C1F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hlinkClick r:id="rId4" action="ppaction://hlinkfile"/>
          </p:cNvPr>
          <p:cNvSpPr txBox="1"/>
          <p:nvPr/>
        </p:nvSpPr>
        <p:spPr>
          <a:xfrm>
            <a:off x="5974080" y="7136892"/>
            <a:ext cx="630936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C1FF72"/>
                </a:solidFill>
                <a:latin typeface="Consolas"/>
              </a:rPr>
              <a:t>ssr446.github.io/</a:t>
            </a:r>
            <a:r>
              <a:rPr sz="1500" b="0" i="0" dirty="0" err="1">
                <a:solidFill>
                  <a:srgbClr val="C1FF72"/>
                </a:solidFill>
                <a:latin typeface="Consolas"/>
              </a:rPr>
              <a:t>SOLX_Sample</a:t>
            </a:r>
            <a:endParaRPr sz="1500" b="0" i="0" dirty="0">
              <a:solidFill>
                <a:srgbClr val="C1FF72"/>
              </a:solidFill>
              <a:latin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9802368"/>
            <a:ext cx="1627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AA78"/>
                </a:solidFill>
                <a:latin typeface="Poppins"/>
              </a:rPr>
              <a:t>NLP Hackathon 2026   |   SRM Institute of Science and Technology   |   Dept. of CSE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850970-30EF-4DE9-B6B9-1D0CFC3F6C38}"/>
              </a:ext>
            </a:extLst>
          </p:cNvPr>
          <p:cNvSpPr/>
          <p:nvPr/>
        </p:nvSpPr>
        <p:spPr>
          <a:xfrm>
            <a:off x="7543800" y="7136892"/>
            <a:ext cx="3124200" cy="3688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HyperlinkOverlay_LiveLink">
            <a:hlinkClick r:id="rId5"/>
          </p:cNvPr>
          <p:cNvSpPr/>
          <p:nvPr/>
        </p:nvSpPr>
        <p:spPr>
          <a:xfrm>
            <a:off x="5973775" y="7136892"/>
            <a:ext cx="6309360" cy="56692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1548</Words>
  <Application>Microsoft Office PowerPoint</Application>
  <PresentationFormat>Custom</PresentationFormat>
  <Paragraphs>180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Consolas</vt:lpstr>
      <vt:lpstr>Poppins</vt:lpstr>
      <vt:lpstr>Calibri</vt:lpstr>
      <vt:lpstr>Space Age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NLP2026 TEMPLATE</dc:title>
  <dc:creator>Archana Ramesh</dc:creator>
  <cp:lastModifiedBy>Sai Shivaram</cp:lastModifiedBy>
  <cp:revision>9</cp:revision>
  <dcterms:created xsi:type="dcterms:W3CDTF">2006-08-16T00:00:00Z</dcterms:created>
  <dcterms:modified xsi:type="dcterms:W3CDTF">2026-08-13T06:12:40Z</dcterms:modified>
  <dc:identifier>DAHR9pm3ZWM</dc:identifier>
</cp:coreProperties>
</file>