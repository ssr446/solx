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68" r:id="rId5"/>
    <p:sldId id="266" r:id="rId6"/>
    <p:sldId id="267" r:id="rId7"/>
    <p:sldId id="259" r:id="rId8"/>
    <p:sldId id="260" r:id="rId9"/>
    <p:sldId id="265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" panose="00000500000000000000"/>
      <p:regular r:id="rId17"/>
      <p:bold r:id="rId18"/>
      <p:italic r:id="rId19"/>
      <p:boldItalic r:id="rId20"/>
    </p:embeddedFont>
    <p:embeddedFont>
      <p:font typeface="Calibri" panose="020F0502020204030204"/>
      <p:regular r:id="rId21"/>
      <p:bold r:id="rId22"/>
      <p:italic r:id="rId23"/>
      <p:boldItalic r:id="rId24"/>
    </p:embeddedFont>
    <p:embeddedFont>
      <p:font typeface="Consolas" panose="020B0609020204030204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FF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2" Type="http://schemas.openxmlformats.org/officeDocument/2006/relationships/slideLayout" Target="../slideLayouts/slideLayout7.xml"/><Relationship Id="rId11" Type="http://schemas.openxmlformats.org/officeDocument/2006/relationships/hyperlink" Target="ssr446.github.io/SOLX_Sample" TargetMode="External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ssr446.github.io/SOLX_Sample" TargetMode="Externa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ssr446.github.io/SOLX_Sample" TargetMode="External"/><Relationship Id="rId4" Type="http://schemas.openxmlformats.org/officeDocument/2006/relationships/hyperlink" Target="ssr446.github.io/SOLX_Sample" TargetMode="External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0669" y="6270974"/>
            <a:ext cx="5590915" cy="1329278"/>
          </a:xfrm>
          <a:custGeom>
            <a:avLst/>
            <a:gdLst/>
            <a:ahLst/>
            <a:cxnLst/>
            <a:rect l="l" t="t" r="r" b="b"/>
            <a:pathLst>
              <a:path w="5590915" h="1329278">
                <a:moveTo>
                  <a:pt x="0" y="0"/>
                </a:moveTo>
                <a:lnTo>
                  <a:pt x="5590916" y="0"/>
                </a:lnTo>
                <a:lnTo>
                  <a:pt x="5590916" y="1329278"/>
                </a:lnTo>
                <a:lnTo>
                  <a:pt x="0" y="132927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320576" y="6609216"/>
            <a:ext cx="4967423" cy="1329278"/>
          </a:xfrm>
          <a:custGeom>
            <a:avLst/>
            <a:gdLst/>
            <a:ahLst/>
            <a:cxnLst/>
            <a:rect l="l" t="t" r="r" b="b"/>
            <a:pathLst>
              <a:path w="5590915" h="1329278">
                <a:moveTo>
                  <a:pt x="5590916" y="0"/>
                </a:moveTo>
                <a:lnTo>
                  <a:pt x="0" y="0"/>
                </a:lnTo>
                <a:lnTo>
                  <a:pt x="0" y="1329278"/>
                </a:lnTo>
                <a:lnTo>
                  <a:pt x="5590916" y="1329278"/>
                </a:lnTo>
                <a:lnTo>
                  <a:pt x="5590916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694813" y="6609216"/>
            <a:ext cx="1546294" cy="1474289"/>
          </a:xfrm>
          <a:custGeom>
            <a:avLst/>
            <a:gdLst/>
            <a:ahLst/>
            <a:cxnLst/>
            <a:rect l="l" t="t" r="r" b="b"/>
            <a:pathLst>
              <a:path w="1546294" h="1474289">
                <a:moveTo>
                  <a:pt x="0" y="0"/>
                </a:moveTo>
                <a:lnTo>
                  <a:pt x="1546294" y="0"/>
                </a:lnTo>
                <a:lnTo>
                  <a:pt x="1546294" y="1474289"/>
                </a:lnTo>
                <a:lnTo>
                  <a:pt x="0" y="1474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8832" y="3929798"/>
            <a:ext cx="4548604" cy="479671"/>
          </a:xfrm>
          <a:custGeom>
            <a:avLst/>
            <a:gdLst/>
            <a:ahLst/>
            <a:cxnLst/>
            <a:rect l="l" t="t" r="r" b="b"/>
            <a:pathLst>
              <a:path w="4548604" h="479671">
                <a:moveTo>
                  <a:pt x="0" y="0"/>
                </a:moveTo>
                <a:lnTo>
                  <a:pt x="4548604" y="0"/>
                </a:lnTo>
                <a:lnTo>
                  <a:pt x="4548604" y="479671"/>
                </a:lnTo>
                <a:lnTo>
                  <a:pt x="0" y="47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251996" y="3929797"/>
            <a:ext cx="4548604" cy="479671"/>
          </a:xfrm>
          <a:custGeom>
            <a:avLst/>
            <a:gdLst/>
            <a:ahLst/>
            <a:cxnLst/>
            <a:rect l="l" t="t" r="r" b="b"/>
            <a:pathLst>
              <a:path w="4548604" h="479671">
                <a:moveTo>
                  <a:pt x="4548604" y="0"/>
                </a:moveTo>
                <a:lnTo>
                  <a:pt x="0" y="0"/>
                </a:lnTo>
                <a:lnTo>
                  <a:pt x="0" y="479671"/>
                </a:lnTo>
                <a:lnTo>
                  <a:pt x="4548604" y="479671"/>
                </a:lnTo>
                <a:lnTo>
                  <a:pt x="454860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66916" y="4897260"/>
            <a:ext cx="123568" cy="492479"/>
          </a:xfrm>
          <a:custGeom>
            <a:avLst/>
            <a:gdLst/>
            <a:ahLst/>
            <a:cxnLst/>
            <a:rect l="l" t="t" r="r" b="b"/>
            <a:pathLst>
              <a:path w="123568" h="492479">
                <a:moveTo>
                  <a:pt x="0" y="0"/>
                </a:moveTo>
                <a:lnTo>
                  <a:pt x="123568" y="0"/>
                </a:lnTo>
                <a:lnTo>
                  <a:pt x="123568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135732" y="4897260"/>
            <a:ext cx="123568" cy="492479"/>
          </a:xfrm>
          <a:custGeom>
            <a:avLst/>
            <a:gdLst/>
            <a:ahLst/>
            <a:cxnLst/>
            <a:rect l="l" t="t" r="r" b="b"/>
            <a:pathLst>
              <a:path w="123568" h="492479">
                <a:moveTo>
                  <a:pt x="0" y="0"/>
                </a:moveTo>
                <a:lnTo>
                  <a:pt x="123568" y="0"/>
                </a:lnTo>
                <a:lnTo>
                  <a:pt x="123568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830284" y="-38100"/>
            <a:ext cx="2533916" cy="2236141"/>
          </a:xfrm>
          <a:custGeom>
            <a:avLst/>
            <a:gdLst/>
            <a:ahLst/>
            <a:cxnLst/>
            <a:rect l="l" t="t" r="r" b="b"/>
            <a:pathLst>
              <a:path w="3130400" h="2804963">
                <a:moveTo>
                  <a:pt x="0" y="0"/>
                </a:moveTo>
                <a:lnTo>
                  <a:pt x="3130400" y="0"/>
                </a:lnTo>
                <a:lnTo>
                  <a:pt x="3130400" y="2804962"/>
                </a:lnTo>
                <a:lnTo>
                  <a:pt x="0" y="2804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3783" y="75662"/>
            <a:ext cx="3991017" cy="1638837"/>
          </a:xfrm>
          <a:custGeom>
            <a:avLst/>
            <a:gdLst/>
            <a:ahLst/>
            <a:cxnLst/>
            <a:rect l="l" t="t" r="r" b="b"/>
            <a:pathLst>
              <a:path w="4223156" h="1992493">
                <a:moveTo>
                  <a:pt x="0" y="0"/>
                </a:moveTo>
                <a:lnTo>
                  <a:pt x="4223156" y="0"/>
                </a:lnTo>
                <a:lnTo>
                  <a:pt x="4223156" y="1992494"/>
                </a:lnTo>
                <a:lnTo>
                  <a:pt x="0" y="19924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996778" y="402697"/>
            <a:ext cx="6942364" cy="459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5"/>
              </a:lnSpc>
              <a:spcBef>
                <a:spcPct val="0"/>
              </a:spcBef>
            </a:pPr>
            <a:r>
              <a:rPr lang="en-US" sz="2665" spc="-106" dirty="0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SRM INSTITUTE OF SCIENCE AND TECHNOLOGY</a:t>
            </a:r>
            <a:endParaRPr lang="en-US" sz="2665" spc="-106" dirty="0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127106" y="1057207"/>
            <a:ext cx="5050334" cy="28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spc="-64" dirty="0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DEPARTMENT OF COMPUTER SCIENCE AND ENGINEERING</a:t>
            </a:r>
            <a:endParaRPr lang="en-US" sz="1600" spc="-64" dirty="0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083266" y="1714500"/>
            <a:ext cx="3138013" cy="304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0"/>
              </a:lnSpc>
              <a:spcBef>
                <a:spcPct val="0"/>
              </a:spcBef>
            </a:pPr>
            <a:r>
              <a:rPr lang="en-US" sz="1745" spc="-69" dirty="0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DESIGN AND INNOVATION CLUB </a:t>
            </a:r>
            <a:endParaRPr lang="en-US" sz="1745" spc="-69" dirty="0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004198" y="4236432"/>
            <a:ext cx="13296148" cy="182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50"/>
              </a:lnSpc>
              <a:spcBef>
                <a:spcPct val="0"/>
              </a:spcBef>
            </a:pPr>
            <a:r>
              <a:rPr lang="en-US" sz="10390" spc="-415" dirty="0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NLP HACKATHON 2026</a:t>
            </a:r>
            <a:endParaRPr lang="en-US" sz="10390" spc="-415" dirty="0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14112" y="2203495"/>
            <a:ext cx="16276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 dirty="0">
                <a:solidFill>
                  <a:srgbClr val="C1FF72"/>
                </a:solidFill>
                <a:latin typeface="Space Age"/>
              </a:rPr>
              <a:t>SOLX</a:t>
            </a:r>
            <a:endParaRPr sz="7200" b="1" i="0" dirty="0">
              <a:solidFill>
                <a:srgbClr val="C1FF72"/>
              </a:solidFill>
              <a:latin typeface="Space Age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8972" y="3422112"/>
            <a:ext cx="7966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 dirty="0">
                <a:solidFill>
                  <a:srgbClr val="B8D4A8"/>
                </a:solidFill>
                <a:latin typeface="Poppins" panose="00000500000000000000"/>
              </a:rPr>
              <a:t>Sarcasm &amp; Online harm Locator with </a:t>
            </a:r>
            <a:r>
              <a:rPr sz="2400" b="0" i="1" dirty="0" err="1">
                <a:solidFill>
                  <a:srgbClr val="B8D4A8"/>
                </a:solidFill>
                <a:latin typeface="Poppins" panose="00000500000000000000"/>
              </a:rPr>
              <a:t>eXplainability</a:t>
            </a:r>
            <a:endParaRPr sz="2400" b="0" i="1" dirty="0">
              <a:solidFill>
                <a:srgbClr val="B8D4A8"/>
              </a:solidFill>
              <a:latin typeface="Poppins" panose="0000050000000000000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19886" y="5868134"/>
            <a:ext cx="1329614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0" dirty="0">
                <a:solidFill>
                  <a:srgbClr val="B8D4A8"/>
                </a:solidFill>
                <a:latin typeface="Poppins" panose="00000500000000000000"/>
              </a:rPr>
              <a:t>PROBLEM STATEMENT 1   |   AI-Powered </a:t>
            </a:r>
            <a:r>
              <a:rPr sz="2500" b="0" i="0" dirty="0" err="1">
                <a:solidFill>
                  <a:srgbClr val="B8D4A8"/>
                </a:solidFill>
                <a:latin typeface="Poppins" panose="00000500000000000000"/>
              </a:rPr>
              <a:t>Tanglish</a:t>
            </a:r>
            <a:r>
              <a:rPr sz="2500" b="0" i="0" dirty="0">
                <a:solidFill>
                  <a:srgbClr val="B8D4A8"/>
                </a:solidFill>
                <a:latin typeface="Poppins" panose="00000500000000000000"/>
              </a:rPr>
              <a:t> Cyberbullying &amp; Sarcasm Detection</a:t>
            </a:r>
            <a:endParaRPr sz="2500" b="0" i="0" dirty="0">
              <a:solidFill>
                <a:srgbClr val="B8D4A8"/>
              </a:solidFill>
              <a:latin typeface="Poppins" panose="0000050000000000000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581400" y="6423661"/>
            <a:ext cx="11506200" cy="45719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306" y="7546553"/>
            <a:ext cx="6400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8822"/>
                </a:solidFill>
                <a:latin typeface="Poppins" panose="00000500000000000000"/>
              </a:rPr>
              <a:t>Team  Inferno</a:t>
            </a:r>
            <a:endParaRPr sz="3000" b="1" i="0" dirty="0">
              <a:solidFill>
                <a:srgbClr val="FF8822"/>
              </a:solidFill>
              <a:latin typeface="Poppins" panose="0000050000000000000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6306" y="8246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F0FFE8"/>
                </a:solidFill>
                <a:latin typeface="Calibri" panose="020F0502020204030204"/>
              </a:rPr>
              <a:t>Y </a:t>
            </a:r>
            <a:r>
              <a:rPr b="0" i="0" dirty="0">
                <a:solidFill>
                  <a:srgbClr val="F0FFE8"/>
                </a:solidFill>
                <a:latin typeface="Calibri" panose="020F0502020204030204"/>
              </a:rPr>
              <a:t>Roshni             RA2311003040018</a:t>
            </a:r>
            <a:endParaRPr b="0" i="0" dirty="0">
              <a:solidFill>
                <a:srgbClr val="F0FFE8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6306" y="866324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0FFE8"/>
                </a:solidFill>
                <a:latin typeface="Calibri" panose="020F0502020204030204"/>
              </a:rPr>
              <a:t>Sai Shivaram LN   RA2311003040023</a:t>
            </a:r>
            <a:endParaRPr b="0" i="0" dirty="0">
              <a:solidFill>
                <a:srgbClr val="F0FFE8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6306" y="907319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0FFE8"/>
                </a:solidFill>
                <a:latin typeface="Calibri" panose="020F0502020204030204"/>
              </a:rPr>
              <a:t>Archana Ramesh   RA2311003040050</a:t>
            </a:r>
            <a:endParaRPr b="0" i="0" dirty="0">
              <a:solidFill>
                <a:srgbClr val="F0FFE8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210268" y="8450836"/>
            <a:ext cx="4515384" cy="938762"/>
          </a:xfrm>
          <a:prstGeom prst="rect">
            <a:avLst/>
          </a:prstGeom>
          <a:solidFill>
            <a:srgbClr val="081808"/>
          </a:solidFill>
          <a:ln w="1905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962868" y="8572500"/>
            <a:ext cx="10101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C1FF72"/>
                </a:solidFill>
                <a:latin typeface="Calibri" panose="020F0502020204030204"/>
              </a:rPr>
              <a:t>Live</a:t>
            </a:r>
            <a:r>
              <a:rPr sz="1200" b="1" i="0" dirty="0">
                <a:solidFill>
                  <a:srgbClr val="C1FF72"/>
                </a:solidFill>
                <a:latin typeface="Calibri" panose="020F0502020204030204"/>
              </a:rPr>
              <a:t> </a:t>
            </a:r>
            <a:r>
              <a:rPr sz="1500" b="1" i="0" dirty="0">
                <a:solidFill>
                  <a:srgbClr val="C1FF72"/>
                </a:solidFill>
                <a:latin typeface="Calibri" panose="020F0502020204030204"/>
              </a:rPr>
              <a:t>Demo</a:t>
            </a:r>
            <a:endParaRPr sz="1500" b="1" i="0" dirty="0">
              <a:solidFill>
                <a:srgbClr val="C1FF72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10560" y="8915711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C1FF72"/>
                </a:solidFill>
                <a:latin typeface="Consolas" panose="020B0609020204030204"/>
              </a:rPr>
              <a:t>ssr446.github.io/</a:t>
            </a:r>
            <a:r>
              <a:rPr sz="2000" b="0" i="0" dirty="0" err="1">
                <a:solidFill>
                  <a:srgbClr val="C1FF72"/>
                </a:solidFill>
                <a:latin typeface="Consolas" panose="020B0609020204030204"/>
              </a:rPr>
              <a:t>SOLX_Sample</a:t>
            </a:r>
            <a:endParaRPr sz="2000" b="0" i="0" dirty="0">
              <a:solidFill>
                <a:srgbClr val="C1FF72"/>
              </a:solidFill>
              <a:latin typeface="Consolas" panose="020B0609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5840" y="9829800"/>
            <a:ext cx="1627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A78"/>
                </a:solidFill>
                <a:latin typeface="Poppins" panose="00000500000000000000"/>
              </a:rPr>
              <a:t>NLP Hackathon 2026   |   SRM Institute of Science and Technology   |   Dept. of CSE</a:t>
            </a:r>
            <a:endParaRPr sz="1000" b="0" i="0">
              <a:solidFill>
                <a:srgbClr val="8AAA78"/>
              </a:solidFill>
              <a:latin typeface="Poppins" panose="00000500000000000000"/>
            </a:endParaRPr>
          </a:p>
        </p:txBody>
      </p:sp>
      <p:sp>
        <p:nvSpPr>
          <p:cNvPr id="29" name="Rectangle 28">
            <a:hlinkClick r:id="rId11" action="ppaction://hlinkfile"/>
          </p:cNvPr>
          <p:cNvSpPr/>
          <p:nvPr/>
        </p:nvSpPr>
        <p:spPr>
          <a:xfrm>
            <a:off x="7410560" y="8979572"/>
            <a:ext cx="4114800" cy="301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444" b="-17444"/>
            </a:stretch>
          </a:blipFill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609600" y="744859"/>
            <a:ext cx="15829870" cy="92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CHOOSEN PROBLEM</a:t>
            </a:r>
            <a:endParaRPr lang="en-US" sz="5200" dirty="0">
              <a:solidFill>
                <a:srgbClr val="C1FF72"/>
              </a:solidFill>
              <a:latin typeface="Space Age"/>
              <a:ea typeface="Space Age"/>
              <a:cs typeface="Space Age"/>
              <a:sym typeface="Space Ag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460337" y="2385513"/>
            <a:ext cx="1546294" cy="1474289"/>
          </a:xfrm>
          <a:custGeom>
            <a:avLst/>
            <a:gdLst/>
            <a:ahLst/>
            <a:cxnLst/>
            <a:rect l="l" t="t" r="r" b="b"/>
            <a:pathLst>
              <a:path w="1546294" h="1474289">
                <a:moveTo>
                  <a:pt x="0" y="0"/>
                </a:moveTo>
                <a:lnTo>
                  <a:pt x="1546293" y="0"/>
                </a:lnTo>
                <a:lnTo>
                  <a:pt x="1546293" y="1474289"/>
                </a:lnTo>
                <a:lnTo>
                  <a:pt x="0" y="1474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69848" y="1998064"/>
            <a:ext cx="16276320" cy="1325880"/>
          </a:xfrm>
          <a:prstGeom prst="rect">
            <a:avLst/>
          </a:prstGeom>
          <a:solidFill>
            <a:srgbClr val="081408"/>
          </a:solidFill>
          <a:ln w="1905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2561" y="1998064"/>
            <a:ext cx="64008" cy="1325880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2244952"/>
            <a:ext cx="159105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F0FFE8"/>
                </a:solidFill>
                <a:latin typeface="Calibri" panose="020F0502020204030204"/>
              </a:rPr>
              <a:t>Develop an AI-powered model to understand </a:t>
            </a:r>
            <a:r>
              <a:rPr sz="1600" b="0" i="1" dirty="0" err="1">
                <a:solidFill>
                  <a:srgbClr val="F0FFE8"/>
                </a:solidFill>
                <a:latin typeface="Calibri" panose="020F0502020204030204"/>
              </a:rPr>
              <a:t>Tanglish</a:t>
            </a:r>
            <a:r>
              <a:rPr sz="1600" b="0" i="1" dirty="0">
                <a:solidFill>
                  <a:srgbClr val="F0FFE8"/>
                </a:solidFill>
                <a:latin typeface="Calibri" panose="020F0502020204030204"/>
              </a:rPr>
              <a:t> (Tamil written in English alphabets) and detect toxic comments, hate speech, online harassment, and cultural sarcasm embedded in pop-culture references across digital platforms.</a:t>
            </a:r>
            <a:endParaRPr sz="1600" b="0" i="1" dirty="0">
              <a:solidFill>
                <a:srgbClr val="F0FFE8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88431" y="3997503"/>
            <a:ext cx="8229600" cy="242316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1088431" y="4008069"/>
            <a:ext cx="8229600" cy="50292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591" y="4187952"/>
            <a:ext cx="7955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C1FF72"/>
                </a:solidFill>
                <a:latin typeface="Poppins" panose="00000500000000000000"/>
              </a:rPr>
              <a:t>No Standard Spelling</a:t>
            </a:r>
            <a:endParaRPr sz="1700" b="1" i="0" dirty="0">
              <a:solidFill>
                <a:srgbClr val="C1FF72"/>
              </a:solidFill>
              <a:latin typeface="Poppins" panose="0000050000000000000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4863821"/>
            <a:ext cx="7955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 panose="020F0502020204030204"/>
              </a:rPr>
              <a:t>"Enna" / "</a:t>
            </a:r>
            <a:r>
              <a:rPr sz="1600" b="0" i="0" dirty="0" err="1">
                <a:solidFill>
                  <a:srgbClr val="B8D4A8"/>
                </a:solidFill>
                <a:latin typeface="Calibri" panose="020F0502020204030204"/>
              </a:rPr>
              <a:t>yenna</a:t>
            </a:r>
            <a:r>
              <a:rPr sz="1600" b="0" i="0" dirty="0">
                <a:solidFill>
                  <a:srgbClr val="B8D4A8"/>
                </a:solidFill>
                <a:latin typeface="Calibri" panose="020F0502020204030204"/>
              </a:rPr>
              <a:t>" / "</a:t>
            </a:r>
            <a:r>
              <a:rPr sz="1600" b="0" i="0" dirty="0" err="1">
                <a:solidFill>
                  <a:srgbClr val="B8D4A8"/>
                </a:solidFill>
                <a:latin typeface="Calibri" panose="020F0502020204030204"/>
              </a:rPr>
              <a:t>ena</a:t>
            </a:r>
            <a:r>
              <a:rPr sz="1600" b="0" i="0" dirty="0">
                <a:solidFill>
                  <a:srgbClr val="B8D4A8"/>
                </a:solidFill>
                <a:latin typeface="Calibri" panose="020F0502020204030204"/>
              </a:rPr>
              <a:t>" / "</a:t>
            </a:r>
            <a:r>
              <a:rPr sz="1600" b="0" i="0" dirty="0" err="1">
                <a:solidFill>
                  <a:srgbClr val="B8D4A8"/>
                </a:solidFill>
                <a:latin typeface="Calibri" panose="020F0502020204030204"/>
              </a:rPr>
              <a:t>yena</a:t>
            </a:r>
            <a:r>
              <a:rPr sz="1600" b="0" i="0" dirty="0">
                <a:solidFill>
                  <a:srgbClr val="B8D4A8"/>
                </a:solidFill>
                <a:latin typeface="Calibri" panose="020F0502020204030204"/>
              </a:rPr>
              <a:t>" — dozens of spelling variants per Tamil word. Standard tokenizers cannot handle this non-standard orthography.</a:t>
            </a:r>
            <a:endParaRPr sz="1600" b="0" i="0" dirty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640651" y="4001976"/>
            <a:ext cx="8229600" cy="242316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40651" y="3993471"/>
            <a:ext cx="8229600" cy="502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2594" y="4217891"/>
            <a:ext cx="7955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D700"/>
                </a:solidFill>
                <a:latin typeface="Poppins" panose="00000500000000000000"/>
              </a:rPr>
              <a:t>Invisible Cultural Sarcasm</a:t>
            </a:r>
            <a:endParaRPr sz="1700" b="1" i="0" dirty="0">
              <a:solidFill>
                <a:srgbClr val="FFD700"/>
              </a:solidFill>
              <a:latin typeface="Poppins" panose="0000050000000000000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40651" y="4864874"/>
            <a:ext cx="7955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 panose="020F0502020204030204"/>
              </a:rPr>
              <a:t>Tamil meme culture wraps insults in film dialogues &amp; meme templates. Generic NLP models have zero awareness of these references.</a:t>
            </a:r>
            <a:endParaRPr sz="1600" b="0" i="0" dirty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05840" y="7315200"/>
            <a:ext cx="8229600" cy="242316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7315200"/>
            <a:ext cx="8229600" cy="50292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7595518"/>
            <a:ext cx="7955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22DDBB"/>
                </a:solidFill>
                <a:latin typeface="Poppins" panose="00000500000000000000"/>
              </a:rPr>
              <a:t>Code-Switching Confusion</a:t>
            </a:r>
            <a:endParaRPr sz="1700" b="1" i="0" dirty="0">
              <a:solidFill>
                <a:srgbClr val="22DDBB"/>
              </a:solidFill>
              <a:latin typeface="Poppins" panose="0000050000000000000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56569" y="8220850"/>
            <a:ext cx="7955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B8D4A8"/>
                </a:solidFill>
                <a:latin typeface="Calibri" panose="020F0502020204030204"/>
              </a:rPr>
              <a:t>Tanglish</a:t>
            </a:r>
            <a:r>
              <a:rPr sz="1600" b="0" i="0" dirty="0">
                <a:solidFill>
                  <a:srgbClr val="B8D4A8"/>
                </a:solidFill>
                <a:latin typeface="Calibri" panose="020F0502020204030204"/>
              </a:rPr>
              <a:t> mixes Tamil grammar with English mid-sentence, defeating NLP pipelines built for single-language input.</a:t>
            </a:r>
            <a:endParaRPr sz="1600" b="0" i="0" dirty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646920" y="7315200"/>
            <a:ext cx="8229600" cy="242316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46920" y="7315200"/>
            <a:ext cx="8229600" cy="50292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2594" y="7624673"/>
            <a:ext cx="7955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5555"/>
                </a:solidFill>
                <a:latin typeface="Poppins" panose="00000500000000000000"/>
              </a:rPr>
              <a:t>Scarce Labelled Data</a:t>
            </a:r>
            <a:endParaRPr sz="1700" b="1" i="0" dirty="0">
              <a:solidFill>
                <a:srgbClr val="FF5555"/>
              </a:solidFill>
              <a:latin typeface="Poppins" panose="0000050000000000000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12594" y="8255556"/>
            <a:ext cx="7955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 panose="020F0502020204030204"/>
              </a:rPr>
              <a:t>Publicly available </a:t>
            </a:r>
            <a:r>
              <a:rPr sz="1600" b="0" i="0" dirty="0" err="1">
                <a:solidFill>
                  <a:srgbClr val="B8D4A8"/>
                </a:solidFill>
                <a:latin typeface="Calibri" panose="020F0502020204030204"/>
              </a:rPr>
              <a:t>Tanglish</a:t>
            </a:r>
            <a:r>
              <a:rPr sz="1600" b="0" i="0" dirty="0">
                <a:solidFill>
                  <a:srgbClr val="B8D4A8"/>
                </a:solidFill>
                <a:latin typeface="Calibri" panose="020F0502020204030204"/>
              </a:rPr>
              <a:t> cyberbullying datasets are extremely scarce, making supervised model training highly challenging.</a:t>
            </a:r>
            <a:endParaRPr sz="1600" b="0" i="0" dirty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5840" y="33832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1FF72"/>
                </a:solidFill>
                <a:latin typeface="Poppins" panose="00000500000000000000"/>
              </a:rPr>
              <a:t>Currently Existing Issues</a:t>
            </a:r>
            <a:endParaRPr sz="1500" b="1" i="0">
              <a:solidFill>
                <a:srgbClr val="C1FF72"/>
              </a:solidFill>
              <a:latin typeface="Poppins" panose="0000050000000000000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05840" y="3822191"/>
            <a:ext cx="1627632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444" b="-17444"/>
            </a:stretch>
          </a:blipFill>
        </p:spPr>
        <p:txBody>
          <a:bodyPr/>
          <a:lstStyle/>
          <a:p/>
        </p:txBody>
      </p:sp>
      <p:sp>
        <p:nvSpPr>
          <p:cNvPr id="3" name="Freeform 3"/>
          <p:cNvSpPr/>
          <p:nvPr/>
        </p:nvSpPr>
        <p:spPr>
          <a:xfrm>
            <a:off x="10725860" y="8178683"/>
            <a:ext cx="1132345" cy="1079617"/>
          </a:xfrm>
          <a:custGeom>
            <a:avLst/>
            <a:gdLst/>
            <a:ahLst/>
            <a:cxnLst/>
            <a:rect l="l" t="t" r="r" b="b"/>
            <a:pathLst>
              <a:path w="1132345" h="1079617">
                <a:moveTo>
                  <a:pt x="0" y="0"/>
                </a:moveTo>
                <a:lnTo>
                  <a:pt x="1132345" y="0"/>
                </a:lnTo>
                <a:lnTo>
                  <a:pt x="1132345" y="1079617"/>
                </a:lnTo>
                <a:lnTo>
                  <a:pt x="0" y="1079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457200" y="760682"/>
            <a:ext cx="16986431" cy="1045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0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PROBLEM ABSTRACT</a:t>
            </a:r>
            <a:endParaRPr lang="en-US" sz="5200" dirty="0">
              <a:solidFill>
                <a:srgbClr val="C1FF72"/>
              </a:solidFill>
              <a:latin typeface="Space Age"/>
              <a:ea typeface="Space Age"/>
              <a:cs typeface="Space Age"/>
              <a:sym typeface="Space Age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255" y="3134825"/>
            <a:ext cx="162763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255" y="3538728"/>
            <a:ext cx="78638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C1FF72"/>
                </a:solidFill>
                <a:latin typeface="Poppins" panose="00000500000000000000"/>
              </a:rPr>
              <a:t>OBJECTIVES</a:t>
            </a:r>
            <a:endParaRPr sz="1700" b="1" i="0" dirty="0">
              <a:solidFill>
                <a:srgbClr val="C1FF72"/>
              </a:solidFill>
              <a:latin typeface="Poppins" panose="0000050000000000000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7863840" cy="28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Detect toxic, harassing and hate-speech content in </a:t>
            </a:r>
            <a:r>
              <a:rPr sz="1600" b="0" dirty="0" err="1">
                <a:solidFill>
                  <a:srgbClr val="B8D4A8"/>
                </a:solidFill>
                <a:latin typeface="Calibri" panose="020F0502020204030204"/>
              </a:rPr>
              <a:t>Tanglish</a:t>
            </a: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text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Identify culturally embedded sarcasm via Tamil pop-culture references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Standardize </a:t>
            </a:r>
            <a:r>
              <a:rPr sz="1600" b="0" dirty="0" err="1">
                <a:solidFill>
                  <a:srgbClr val="B8D4A8"/>
                </a:solidFill>
                <a:latin typeface="Calibri" panose="020F0502020204030204"/>
              </a:rPr>
              <a:t>Tanglish</a:t>
            </a: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spelling variants with a phonetic normalizer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Provide explainable, plain-English justification for every prediction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Improve digital safety for Tamil-speaking online communities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098673" y="3157685"/>
            <a:ext cx="27432" cy="594360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9311" y="3607308"/>
            <a:ext cx="78638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D700"/>
                </a:solidFill>
                <a:latin typeface="Poppins" panose="00000500000000000000"/>
              </a:rPr>
              <a:t>THEME</a:t>
            </a:r>
            <a:r>
              <a:rPr sz="1500" b="1" i="0" dirty="0">
                <a:solidFill>
                  <a:srgbClr val="FFD700"/>
                </a:solidFill>
                <a:latin typeface="Poppins" panose="00000500000000000000"/>
              </a:rPr>
              <a:t> </a:t>
            </a:r>
            <a:r>
              <a:rPr sz="1700" b="1" i="0" dirty="0">
                <a:solidFill>
                  <a:srgbClr val="FFD700"/>
                </a:solidFill>
                <a:latin typeface="Poppins" panose="00000500000000000000"/>
              </a:rPr>
              <a:t>ALIGNMENT</a:t>
            </a:r>
            <a:endParaRPr sz="1700" b="1" i="0" dirty="0">
              <a:solidFill>
                <a:srgbClr val="FFD700"/>
              </a:solidFill>
              <a:latin typeface="Poppins" panose="0000050000000000000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64040" y="4297680"/>
            <a:ext cx="786384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Next-Gen Tamil Language &amp; Cultural AI (Hackathon Theme)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Preserve classical Tamil digital culture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Improve digital accessibility for Tamil communities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Secure online communication using intelligent AI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Bridge rural language use and modern digital platforms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1937147"/>
            <a:ext cx="172364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i="1" dirty="0">
                <a:solidFill>
                  <a:srgbClr val="B8D4A8"/>
                </a:solidFill>
                <a:latin typeface="Poppins" panose="00000500000000000000"/>
              </a:rPr>
              <a:t>Objectives &amp; Theme Alignment</a:t>
            </a:r>
            <a:endParaRPr lang="en-IN" sz="1700" i="1" dirty="0">
              <a:solidFill>
                <a:srgbClr val="B8D4A8"/>
              </a:solidFill>
              <a:latin typeface="Poppins" panose="00000500000000000000"/>
            </a:endParaRPr>
          </a:p>
          <a:p>
            <a:pPr algn="l"/>
            <a:endParaRPr sz="1700" b="0" i="1" dirty="0">
              <a:solidFill>
                <a:srgbClr val="B8D4A8"/>
              </a:solidFill>
              <a:latin typeface="Poppins" panose="0000050000000000000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2000" y="2303984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2000" y="1922984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2"/>
          <p:cNvSpPr/>
          <p:nvPr/>
        </p:nvSpPr>
        <p:spPr>
          <a:xfrm>
            <a:off x="-152400" y="-266700"/>
            <a:ext cx="18592800" cy="107442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444" b="-17444"/>
            </a:stretch>
          </a:blipFill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0352" y="342900"/>
            <a:ext cx="1645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 dirty="0">
                <a:solidFill>
                  <a:srgbClr val="C1FF72"/>
                </a:solidFill>
                <a:latin typeface="Space Age"/>
              </a:rPr>
              <a:t>OBJECTIVES AND SOLUTION</a:t>
            </a:r>
            <a:endParaRPr sz="5200" b="0" i="0" dirty="0">
              <a:solidFill>
                <a:srgbClr val="C1FF72"/>
              </a:solidFill>
              <a:latin typeface="Space Age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562100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38300"/>
            <a:ext cx="1723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 dirty="0">
                <a:solidFill>
                  <a:srgbClr val="B8D4A8"/>
                </a:solidFill>
                <a:latin typeface="Poppins" panose="00000500000000000000"/>
              </a:rPr>
              <a:t>Objectives with the solution approach for each</a:t>
            </a:r>
            <a:endParaRPr sz="1700" b="0" i="1" dirty="0">
              <a:solidFill>
                <a:srgbClr val="B8D4A8"/>
              </a:solidFill>
              <a:latin typeface="Poppins" panose="0000050000000000000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0352" y="1999184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237744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Poppins" panose="00000500000000000000"/>
              </a:rPr>
              <a:t>OBJECTIVE</a:t>
            </a:r>
            <a:endParaRPr sz="1500" b="1" i="0">
              <a:solidFill>
                <a:srgbClr val="FFD700"/>
              </a:solidFill>
              <a:latin typeface="Poppins" panose="0000050000000000000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997696" y="2377440"/>
            <a:ext cx="36576" cy="72237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23774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DBB"/>
                </a:solidFill>
                <a:latin typeface="Poppins" panose="00000500000000000000"/>
              </a:rPr>
              <a:t>SOLUTION APPROACH</a:t>
            </a:r>
            <a:endParaRPr sz="1500" b="1" i="0">
              <a:solidFill>
                <a:srgbClr val="22DDBB"/>
              </a:solidFill>
              <a:latin typeface="Poppins" panose="0000050000000000000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0352" y="2770632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2852928"/>
            <a:ext cx="8430768" cy="1353312"/>
          </a:xfrm>
          <a:prstGeom prst="rect">
            <a:avLst/>
          </a:prstGeom>
          <a:solidFill>
            <a:srgbClr val="081204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852928"/>
            <a:ext cx="50292" cy="13533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62656"/>
            <a:ext cx="81381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FE8"/>
                </a:solidFill>
                <a:latin typeface="Calibri" panose="020F0502020204030204"/>
              </a:rPr>
              <a:t>Detect toxic, harassing and hate-speech content in Tanglish text</a:t>
            </a:r>
            <a:endParaRPr sz="1600" b="0" i="0">
              <a:solidFill>
                <a:srgbClr val="F0FFE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034272" y="2852928"/>
            <a:ext cx="8732520" cy="1353312"/>
          </a:xfrm>
          <a:prstGeom prst="rect">
            <a:avLst/>
          </a:prstGeom>
          <a:solidFill>
            <a:srgbClr val="041010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4272" y="2852928"/>
            <a:ext cx="50292" cy="13533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8864" y="2962656"/>
            <a:ext cx="8412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 panose="020F0502020204030204"/>
              </a:rPr>
              <a:t>High-performance LinearSVC Pipeline with TF-IDF Vectorization trained on nearly 30,000 real-world examples (Twitter Hate Speech, TweetEval Irony, and curated Tanglish) detects toxicity with high precision.</a:t>
            </a:r>
            <a:endParaRPr sz="1600" b="0" i="1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0352" y="4242816"/>
            <a:ext cx="8430768" cy="1353312"/>
          </a:xfrm>
          <a:prstGeom prst="rect">
            <a:avLst/>
          </a:prstGeom>
          <a:solidFill>
            <a:srgbClr val="081204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4242816"/>
            <a:ext cx="50292" cy="1353312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81381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FE8"/>
                </a:solidFill>
                <a:latin typeface="Calibri" panose="020F0502020204030204"/>
              </a:rPr>
              <a:t>Identify culturally embedded sarcasm via Tamil pop-culture references</a:t>
            </a:r>
            <a:endParaRPr sz="1600" b="0" i="0">
              <a:solidFill>
                <a:srgbClr val="F0FFE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34272" y="4242816"/>
            <a:ext cx="8732520" cy="1353312"/>
          </a:xfrm>
          <a:prstGeom prst="rect">
            <a:avLst/>
          </a:prstGeom>
          <a:solidFill>
            <a:srgbClr val="041010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4242816"/>
            <a:ext cx="50292" cy="1353312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4352544"/>
            <a:ext cx="8412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 panose="020F0502020204030204"/>
              </a:rPr>
              <a:t>Cultural Context Engine queries a knowledge-base of Tamil film dialogues and internet meme templates to unmask sarcasm that keyword filters and generic NLP models are completely blind to.</a:t>
            </a:r>
            <a:endParaRPr sz="1600" b="0" i="1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5632704"/>
            <a:ext cx="8430768" cy="1353312"/>
          </a:xfrm>
          <a:prstGeom prst="rect">
            <a:avLst/>
          </a:prstGeom>
          <a:solidFill>
            <a:srgbClr val="081204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5632704"/>
            <a:ext cx="50292" cy="1353312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742432"/>
            <a:ext cx="81381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FE8"/>
                </a:solidFill>
                <a:latin typeface="Calibri" panose="020F0502020204030204"/>
              </a:rPr>
              <a:t>Standardize Tanglish spelling variants with a phonetic normalizer</a:t>
            </a:r>
            <a:endParaRPr sz="1600" b="0" i="0">
              <a:solidFill>
                <a:srgbClr val="F0FFE8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034272" y="5632704"/>
            <a:ext cx="8732520" cy="1353312"/>
          </a:xfrm>
          <a:prstGeom prst="rect">
            <a:avLst/>
          </a:prstGeom>
          <a:solidFill>
            <a:srgbClr val="041010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4272" y="5632704"/>
            <a:ext cx="50292" cy="1353312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8864" y="5742432"/>
            <a:ext cx="8412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 panose="020F0502020204030204"/>
              </a:rPr>
              <a:t>A Regex &amp; Substring Dictionary mapping resolves common spelling variants before classification.</a:t>
            </a:r>
            <a:endParaRPr sz="1600" b="0" i="1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30352" y="7022592"/>
            <a:ext cx="8430768" cy="1353312"/>
          </a:xfrm>
          <a:prstGeom prst="rect">
            <a:avLst/>
          </a:prstGeom>
          <a:solidFill>
            <a:srgbClr val="081204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0352" y="7022592"/>
            <a:ext cx="50292" cy="1353312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7132320"/>
            <a:ext cx="81381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FE8"/>
                </a:solidFill>
                <a:latin typeface="Calibri" panose="020F0502020204030204"/>
              </a:rPr>
              <a:t>Provide explainable, plain-English justification for every prediction</a:t>
            </a:r>
            <a:endParaRPr sz="1600" b="0" i="0">
              <a:solidFill>
                <a:srgbClr val="F0FFE8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034272" y="7022592"/>
            <a:ext cx="8732520" cy="1353312"/>
          </a:xfrm>
          <a:prstGeom prst="rect">
            <a:avLst/>
          </a:prstGeom>
          <a:solidFill>
            <a:srgbClr val="041010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34272" y="7022592"/>
            <a:ext cx="50292" cy="1353312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8864" y="7132320"/>
            <a:ext cx="8412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 panose="020F0502020204030204"/>
              </a:rPr>
              <a:t>An XAI layer generates moderator-ready explanations — not just a label, but WHY a comment is harmful, which phrase triggered it, and its cultural origin — enabling transparent, auditable moderation.</a:t>
            </a:r>
            <a:endParaRPr sz="1600" b="0" i="1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30352" y="8412480"/>
            <a:ext cx="8430768" cy="1353312"/>
          </a:xfrm>
          <a:prstGeom prst="rect">
            <a:avLst/>
          </a:prstGeom>
          <a:solidFill>
            <a:srgbClr val="081204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0352" y="8412480"/>
            <a:ext cx="50292" cy="1353312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8522208"/>
            <a:ext cx="81381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FE8"/>
                </a:solidFill>
                <a:latin typeface="Calibri" panose="020F0502020204030204"/>
              </a:rPr>
              <a:t>Improve digital safety for Tamil-speaking online communities</a:t>
            </a:r>
            <a:endParaRPr sz="1600" b="0" i="0">
              <a:solidFill>
                <a:srgbClr val="F0FFE8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034272" y="8412480"/>
            <a:ext cx="8732520" cy="1353312"/>
          </a:xfrm>
          <a:prstGeom prst="rect">
            <a:avLst/>
          </a:prstGeom>
          <a:solidFill>
            <a:srgbClr val="041010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34272" y="8412480"/>
            <a:ext cx="50292" cy="1353312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98864" y="8522208"/>
            <a:ext cx="8412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 panose="020F0502020204030204"/>
              </a:rPr>
              <a:t>Structured JSON API output integrates directly into platform moderation pipelines (Twitter, YouTube, Instagram) — making SOLX a plug-in safety layer for any Tamil-content platform.</a:t>
            </a:r>
            <a:endParaRPr sz="1600" b="0" i="1">
              <a:solidFill>
                <a:srgbClr val="B8D4A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2"/>
          <p:cNvSpPr/>
          <p:nvPr/>
        </p:nvSpPr>
        <p:spPr>
          <a:xfrm>
            <a:off x="-1066800" y="-571500"/>
            <a:ext cx="20116800" cy="112776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444" b="-17444"/>
            </a:stretch>
          </a:blipFill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7236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C1FF72"/>
                </a:solidFill>
                <a:latin typeface="Space Age"/>
              </a:rPr>
              <a:t>FUNCTIONALITIES AND SOLUTION</a:t>
            </a:r>
            <a:endParaRPr sz="5200" b="0" i="0">
              <a:solidFill>
                <a:srgbClr val="C1FF72"/>
              </a:solidFill>
              <a:latin typeface="Space Age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783080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874519"/>
            <a:ext cx="1723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8D4A8"/>
                </a:solidFill>
                <a:latin typeface="Poppins" panose="00000500000000000000"/>
              </a:rPr>
              <a:t>Functionalities with the solution explaining the approach</a:t>
            </a:r>
            <a:endParaRPr sz="1700" b="0" i="1">
              <a:solidFill>
                <a:srgbClr val="B8D4A8"/>
              </a:solidFill>
              <a:latin typeface="Poppins" panose="0000050000000000000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0352" y="2267712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237744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822"/>
                </a:solidFill>
                <a:latin typeface="Poppins" panose="00000500000000000000"/>
              </a:rPr>
              <a:t>FUNCTIONALITY</a:t>
            </a:r>
            <a:endParaRPr sz="1500" b="1" i="0">
              <a:solidFill>
                <a:srgbClr val="FF8822"/>
              </a:solidFill>
              <a:latin typeface="Poppins" panose="0000050000000000000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997696" y="2377440"/>
            <a:ext cx="36576" cy="72237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23774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1FF72"/>
                </a:solidFill>
                <a:latin typeface="Poppins" panose="00000500000000000000"/>
              </a:rPr>
              <a:t>HOW IT WORKS — THE APPROACH</a:t>
            </a:r>
            <a:endParaRPr sz="1500" b="1" i="0">
              <a:solidFill>
                <a:srgbClr val="C1FF72"/>
              </a:solidFill>
              <a:latin typeface="Poppins" panose="0000050000000000000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0352" y="2770632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2852928"/>
            <a:ext cx="8430768" cy="1197864"/>
          </a:xfrm>
          <a:prstGeom prst="rect">
            <a:avLst/>
          </a:prstGeom>
          <a:solidFill>
            <a:srgbClr val="0A1006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852928"/>
            <a:ext cx="50292" cy="1197864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62656"/>
            <a:ext cx="8138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8822"/>
                </a:solidFill>
                <a:latin typeface="Poppins" panose="00000500000000000000"/>
              </a:rPr>
              <a:t>Multi-Label Detection</a:t>
            </a:r>
            <a:endParaRPr sz="1700" b="1" i="0">
              <a:solidFill>
                <a:srgbClr val="FF8822"/>
              </a:solidFill>
              <a:latin typeface="Poppins" panose="0000050000000000000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034272" y="2852928"/>
            <a:ext cx="8732520" cy="1197864"/>
          </a:xfrm>
          <a:prstGeom prst="rect">
            <a:avLst/>
          </a:prstGeom>
          <a:solidFill>
            <a:srgbClr val="040C0C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4272" y="2852928"/>
            <a:ext cx="50292" cy="1197864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8864" y="2944368"/>
            <a:ext cx="84124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 panose="020F0502020204030204"/>
              </a:rPr>
              <a:t>A single comment passes through the optimized LinearSVC classifier, producing independent scores for Toxic, Sarcastic, and Cyberbullying — one comment can trigger all three labels at once.</a:t>
            </a:r>
            <a:endParaRPr sz="1600" b="0" i="1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0352" y="4087368"/>
            <a:ext cx="8430768" cy="1197864"/>
          </a:xfrm>
          <a:prstGeom prst="rect">
            <a:avLst/>
          </a:prstGeom>
          <a:solidFill>
            <a:srgbClr val="0A1006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4087368"/>
            <a:ext cx="50292" cy="1197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7096"/>
            <a:ext cx="8138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Poppins" panose="00000500000000000000"/>
              </a:rPr>
              <a:t>Severity Scoring (0–100%)</a:t>
            </a:r>
            <a:endParaRPr sz="1700" b="1" i="0">
              <a:solidFill>
                <a:srgbClr val="FFD700"/>
              </a:solidFill>
              <a:latin typeface="Poppins" panose="0000050000000000000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34272" y="4087368"/>
            <a:ext cx="8732520" cy="1197864"/>
          </a:xfrm>
          <a:prstGeom prst="rect">
            <a:avLst/>
          </a:prstGeom>
          <a:solidFill>
            <a:srgbClr val="040C0C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4087368"/>
            <a:ext cx="50292" cy="1197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4178808"/>
            <a:ext cx="84124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 panose="020F0502020204030204"/>
              </a:rPr>
              <a:t>Model confidence / decision scores are converted into a 0–100% severity score. Scores above configurable thresholds trigger moderation actions, enabling tiered responses (warn / restrict / remove).</a:t>
            </a:r>
            <a:endParaRPr sz="1600" b="0" i="1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5321808"/>
            <a:ext cx="8430768" cy="1197864"/>
          </a:xfrm>
          <a:prstGeom prst="rect">
            <a:avLst/>
          </a:prstGeom>
          <a:solidFill>
            <a:srgbClr val="0A1006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5321808"/>
            <a:ext cx="50292" cy="1197864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31536"/>
            <a:ext cx="8138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1FF72"/>
                </a:solidFill>
                <a:latin typeface="Poppins" panose="00000500000000000000"/>
              </a:rPr>
              <a:t>Tanglish Normalizer</a:t>
            </a:r>
            <a:endParaRPr sz="1700" b="1" i="0">
              <a:solidFill>
                <a:srgbClr val="C1FF72"/>
              </a:solidFill>
              <a:latin typeface="Poppins" panose="0000050000000000000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034272" y="5321808"/>
            <a:ext cx="8732520" cy="1197864"/>
          </a:xfrm>
          <a:prstGeom prst="rect">
            <a:avLst/>
          </a:prstGeom>
          <a:solidFill>
            <a:srgbClr val="040C0C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4272" y="5321808"/>
            <a:ext cx="50292" cy="1197864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8864" y="5413248"/>
            <a:ext cx="84124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 panose="020F0502020204030204"/>
              </a:rPr>
              <a:t>A phonetic mapping table maps character-level variants of Tamil words to a canonical root form before tokenization. This ensures the classifier sees consistent input regardless of how a user spells a word.</a:t>
            </a:r>
            <a:endParaRPr sz="1600" b="0" i="1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30352" y="6556248"/>
            <a:ext cx="8430768" cy="1197864"/>
          </a:xfrm>
          <a:prstGeom prst="rect">
            <a:avLst/>
          </a:prstGeom>
          <a:solidFill>
            <a:srgbClr val="0A1006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0352" y="6556248"/>
            <a:ext cx="50292" cy="1197864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665976"/>
            <a:ext cx="8138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DDBB"/>
                </a:solidFill>
                <a:latin typeface="Poppins" panose="00000500000000000000"/>
              </a:rPr>
              <a:t>Cultural Context Engine</a:t>
            </a:r>
            <a:endParaRPr sz="1700" b="1" i="0">
              <a:solidFill>
                <a:srgbClr val="22DDBB"/>
              </a:solidFill>
              <a:latin typeface="Poppins" panose="0000050000000000000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034272" y="6556248"/>
            <a:ext cx="8732520" cy="1197864"/>
          </a:xfrm>
          <a:prstGeom prst="rect">
            <a:avLst/>
          </a:prstGeom>
          <a:solidFill>
            <a:srgbClr val="040C0C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34272" y="6556248"/>
            <a:ext cx="50292" cy="1197864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8864" y="6647688"/>
            <a:ext cx="84124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 panose="020F0502020204030204"/>
              </a:rPr>
              <a:t>When the classifier flags sarcasm, a knowledge-base lookup identifies whether a phrase is a known film dialogue, meme template, or internet slang — and retrieves the cultural origin and typical intent.</a:t>
            </a:r>
            <a:endParaRPr sz="1600" b="0" i="1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30352" y="7790688"/>
            <a:ext cx="8430768" cy="1197864"/>
          </a:xfrm>
          <a:prstGeom prst="rect">
            <a:avLst/>
          </a:prstGeom>
          <a:solidFill>
            <a:srgbClr val="0A1006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0352" y="7790688"/>
            <a:ext cx="50292" cy="1197864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7900416"/>
            <a:ext cx="8138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5555"/>
                </a:solidFill>
                <a:latin typeface="Poppins" panose="00000500000000000000"/>
              </a:rPr>
              <a:t>Explainable AI Output</a:t>
            </a:r>
            <a:endParaRPr sz="1700" b="1" i="0">
              <a:solidFill>
                <a:srgbClr val="FF5555"/>
              </a:solidFill>
              <a:latin typeface="Poppins" panose="0000050000000000000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034272" y="7790688"/>
            <a:ext cx="8732520" cy="1197864"/>
          </a:xfrm>
          <a:prstGeom prst="rect">
            <a:avLst/>
          </a:prstGeom>
          <a:solidFill>
            <a:srgbClr val="040C0C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34272" y="7790688"/>
            <a:ext cx="50292" cy="1197864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98864" y="7882128"/>
            <a:ext cx="84124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 panose="020F0502020204030204"/>
              </a:rPr>
              <a:t>The XAI layer stitches classifier output with the cultural context result to generate a plain-English explanation: which phrase triggered the flag, why it is harmful, and its origin — ready for a human moderator.</a:t>
            </a:r>
            <a:endParaRPr sz="1600" b="0" i="1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30352" y="9025128"/>
            <a:ext cx="8430768" cy="1197864"/>
          </a:xfrm>
          <a:prstGeom prst="rect">
            <a:avLst/>
          </a:prstGeom>
          <a:solidFill>
            <a:srgbClr val="0A1006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0352" y="9025128"/>
            <a:ext cx="50292" cy="1197864"/>
          </a:xfrm>
          <a:prstGeom prst="rect">
            <a:avLst/>
          </a:prstGeom>
          <a:solidFill>
            <a:srgbClr val="CC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9134856"/>
            <a:ext cx="8138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C88FF"/>
                </a:solidFill>
                <a:latin typeface="Poppins" panose="00000500000000000000"/>
              </a:rPr>
              <a:t>API-Ready JSON Output</a:t>
            </a:r>
            <a:endParaRPr sz="1700" b="1" i="0">
              <a:solidFill>
                <a:srgbClr val="CC88FF"/>
              </a:solidFill>
              <a:latin typeface="Poppins" panose="0000050000000000000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034272" y="9025128"/>
            <a:ext cx="8732520" cy="1197864"/>
          </a:xfrm>
          <a:prstGeom prst="rect">
            <a:avLst/>
          </a:prstGeom>
          <a:solidFill>
            <a:srgbClr val="040C0C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34272" y="9025128"/>
            <a:ext cx="50292" cy="1197864"/>
          </a:xfrm>
          <a:prstGeom prst="rect">
            <a:avLst/>
          </a:prstGeom>
          <a:solidFill>
            <a:srgbClr val="CC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98864" y="9116568"/>
            <a:ext cx="84124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 panose="020F0502020204030204"/>
              </a:rPr>
              <a:t>All outputs are serialized into a structured JSON response (label, score, normalized_text, explanation, severity) making SOLX a drop-in moderation microservice for any content platform's backend.</a:t>
            </a:r>
            <a:endParaRPr sz="1600" b="0" i="1">
              <a:solidFill>
                <a:srgbClr val="B8D4A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444" b="-17444"/>
            </a:stretch>
          </a:blipFill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38200" y="773669"/>
            <a:ext cx="10326203" cy="80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0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PROPOSED SOLUTION</a:t>
            </a:r>
            <a:endParaRPr lang="en-US" sz="5200" dirty="0">
              <a:solidFill>
                <a:srgbClr val="C1FF72"/>
              </a:solidFill>
              <a:latin typeface="Space Age"/>
              <a:ea typeface="Space Age"/>
              <a:cs typeface="Space Age"/>
              <a:sym typeface="Space Ag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28700" y="8765821"/>
            <a:ext cx="123568" cy="492479"/>
          </a:xfrm>
          <a:custGeom>
            <a:avLst/>
            <a:gdLst/>
            <a:ahLst/>
            <a:cxnLst/>
            <a:rect l="l" t="t" r="r" b="b"/>
            <a:pathLst>
              <a:path w="123568" h="492479">
                <a:moveTo>
                  <a:pt x="0" y="0"/>
                </a:moveTo>
                <a:lnTo>
                  <a:pt x="123568" y="0"/>
                </a:lnTo>
                <a:lnTo>
                  <a:pt x="123568" y="492479"/>
                </a:lnTo>
                <a:lnTo>
                  <a:pt x="0" y="492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38200" y="2012737"/>
            <a:ext cx="1627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 dirty="0">
                <a:solidFill>
                  <a:srgbClr val="B8D4A8"/>
                </a:solidFill>
                <a:latin typeface="Poppins" panose="00000500000000000000"/>
              </a:rPr>
              <a:t>3-Stage AI Pipeline — Normalizer  &gt;  Classifier  &gt;  Explainer</a:t>
            </a:r>
            <a:endParaRPr sz="1700" b="0" i="1" dirty="0">
              <a:solidFill>
                <a:srgbClr val="B8D4A8"/>
              </a:solidFill>
              <a:latin typeface="Poppins" panose="0000050000000000000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2731583"/>
            <a:ext cx="162763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5320" y="3406140"/>
            <a:ext cx="5440680" cy="64008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430515"/>
            <a:ext cx="5440680" cy="50292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9197" y="3698153"/>
            <a:ext cx="594360" cy="530352"/>
          </a:xfrm>
          <a:prstGeom prst="rect">
            <a:avLst/>
          </a:prstGeom>
          <a:solidFill>
            <a:srgbClr val="081A08"/>
          </a:solidFill>
          <a:ln w="1270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3771271"/>
            <a:ext cx="5760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C1FF72"/>
                </a:solidFill>
                <a:latin typeface="Consolas" panose="020B0609020204030204"/>
              </a:rPr>
              <a:t>01</a:t>
            </a:r>
            <a:endParaRPr sz="1800" b="1" i="0" dirty="0">
              <a:solidFill>
                <a:srgbClr val="C1FF72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52600" y="3681975"/>
            <a:ext cx="4434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FFFF"/>
                </a:solidFill>
                <a:latin typeface="Poppins" panose="00000500000000000000"/>
              </a:rPr>
              <a:t>Typo &amp; Slang
Normalizer</a:t>
            </a:r>
            <a:endParaRPr sz="1700" b="1" i="0" dirty="0">
              <a:solidFill>
                <a:srgbClr val="FFFFFF"/>
              </a:solidFill>
              <a:latin typeface="Poppins" panose="0000050000000000000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52500" y="4411980"/>
            <a:ext cx="4533900" cy="530352"/>
          </a:xfrm>
          <a:prstGeom prst="rect">
            <a:avLst/>
          </a:prstGeom>
          <a:solidFill>
            <a:srgbClr val="081A08"/>
          </a:solidFill>
          <a:ln w="9525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992" y="4503933"/>
            <a:ext cx="50932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C1FF72"/>
                </a:solidFill>
                <a:latin typeface="Poppins" panose="00000500000000000000"/>
              </a:rPr>
              <a:t>Preprocessing Layer</a:t>
            </a:r>
            <a:endParaRPr sz="1700" b="1" i="0" dirty="0">
              <a:solidFill>
                <a:srgbClr val="C1FF72"/>
              </a:solidFill>
              <a:latin typeface="Poppins" panose="0000050000000000000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200" y="5143500"/>
            <a:ext cx="512064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Phonetic mapping of spelling variants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'</a:t>
            </a:r>
            <a:r>
              <a:rPr sz="1600" b="0" dirty="0" err="1">
                <a:solidFill>
                  <a:srgbClr val="B8D4A8"/>
                </a:solidFill>
                <a:latin typeface="Calibri" panose="020F0502020204030204"/>
              </a:rPr>
              <a:t>enna</a:t>
            </a: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' / '</a:t>
            </a:r>
            <a:r>
              <a:rPr sz="1600" b="0" dirty="0" err="1">
                <a:solidFill>
                  <a:srgbClr val="B8D4A8"/>
                </a:solidFill>
                <a:latin typeface="Calibri" panose="020F0502020204030204"/>
              </a:rPr>
              <a:t>yenna</a:t>
            </a: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' / '</a:t>
            </a:r>
            <a:r>
              <a:rPr sz="1600" b="0" dirty="0" err="1">
                <a:solidFill>
                  <a:srgbClr val="B8D4A8"/>
                </a:solidFill>
                <a:latin typeface="Calibri" panose="020F0502020204030204"/>
              </a:rPr>
              <a:t>ena</a:t>
            </a: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'  -&gt;  unified root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Internet slang &amp; abbreviation lookup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Output: clean, normalized </a:t>
            </a:r>
            <a:r>
              <a:rPr sz="1600" b="0" dirty="0" err="1">
                <a:solidFill>
                  <a:srgbClr val="B8D4A8"/>
                </a:solidFill>
                <a:latin typeface="Calibri" panose="020F0502020204030204"/>
              </a:rPr>
              <a:t>Tanglish</a:t>
            </a: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text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98920" y="3455661"/>
            <a:ext cx="5440680" cy="64008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98920" y="3474720"/>
            <a:ext cx="5440680" cy="502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3682597"/>
            <a:ext cx="594360" cy="530352"/>
          </a:xfrm>
          <a:prstGeom prst="rect">
            <a:avLst/>
          </a:prstGeom>
          <a:solidFill>
            <a:srgbClr val="081A08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751513"/>
            <a:ext cx="5760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D700"/>
                </a:solidFill>
                <a:latin typeface="Consolas" panose="020B0609020204030204"/>
              </a:rPr>
              <a:t>02</a:t>
            </a:r>
            <a:endParaRPr sz="1800" b="1" i="0" dirty="0">
              <a:solidFill>
                <a:srgbClr val="FFD700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20000" y="3685179"/>
            <a:ext cx="4434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FFFF"/>
                </a:solidFill>
                <a:latin typeface="Poppins" panose="00000500000000000000"/>
              </a:rPr>
              <a:t>Multi-Label
Classifier</a:t>
            </a:r>
            <a:endParaRPr sz="1700" b="1" i="0" dirty="0">
              <a:solidFill>
                <a:srgbClr val="FFFFFF"/>
              </a:solidFill>
              <a:latin typeface="Poppins" panose="0000050000000000000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0" y="4399148"/>
            <a:ext cx="4434840" cy="543184"/>
          </a:xfrm>
          <a:prstGeom prst="rect">
            <a:avLst/>
          </a:prstGeom>
          <a:solidFill>
            <a:srgbClr val="081A08"/>
          </a:solidFill>
          <a:ln w="9525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1592" y="4523410"/>
            <a:ext cx="5093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D700"/>
                </a:solidFill>
                <a:latin typeface="Poppins" panose="00000500000000000000"/>
              </a:rPr>
              <a:t>Core NLP Model</a:t>
            </a:r>
            <a:endParaRPr sz="1700" b="1" i="0" dirty="0">
              <a:solidFill>
                <a:srgbClr val="FFD700"/>
              </a:solidFill>
              <a:latin typeface="Poppins" panose="0000050000000000000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81800" y="5261128"/>
            <a:ext cx="512064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0">
                <a:solidFill>
                  <a:srgbClr val="B8D4A8"/>
                </a:solidFill>
                <a:latin typeface="Calibri" panose="020F0502020204030204"/>
              </a:rPr>
              <a:t>  ‣  Optimized LinearSVC / TF-IDF Model</a:t>
            </a:r>
            <a:endParaRPr sz="1600" b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Categories: Toxic / Sarcastic / Cyberbullying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Confidence score 0-100% per category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Single comment can trigger multiple labels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Handles Tamil-English code-switching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2527280" y="3474720"/>
            <a:ext cx="5440680" cy="64008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527280" y="3474720"/>
            <a:ext cx="5440680" cy="50292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724257" y="3718560"/>
            <a:ext cx="594360" cy="530352"/>
          </a:xfrm>
          <a:prstGeom prst="rect">
            <a:avLst/>
          </a:prstGeom>
          <a:solidFill>
            <a:srgbClr val="081A08"/>
          </a:solidFill>
          <a:ln w="12700">
            <a:solidFill>
              <a:srgbClr val="22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12727927" y="3782525"/>
            <a:ext cx="5760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22DDBB"/>
                </a:solidFill>
                <a:latin typeface="Consolas" panose="020B0609020204030204"/>
              </a:rPr>
              <a:t>03</a:t>
            </a:r>
            <a:endParaRPr sz="1800" b="1" i="0" dirty="0">
              <a:solidFill>
                <a:srgbClr val="22DDBB"/>
              </a:solidFill>
              <a:latin typeface="Consolas" panose="020B0609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409676" y="3694550"/>
            <a:ext cx="4434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FFFF"/>
                </a:solidFill>
                <a:latin typeface="Poppins" panose="00000500000000000000"/>
              </a:rPr>
              <a:t>Cultural Context
Explainer</a:t>
            </a:r>
            <a:endParaRPr sz="1700" b="1" i="0" dirty="0">
              <a:solidFill>
                <a:srgbClr val="FFFFFF"/>
              </a:solidFill>
              <a:latin typeface="Poppins" panose="0000050000000000000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2730416" y="4411980"/>
            <a:ext cx="4528884" cy="530352"/>
          </a:xfrm>
          <a:prstGeom prst="rect">
            <a:avLst/>
          </a:prstGeom>
          <a:solidFill>
            <a:srgbClr val="081A08"/>
          </a:solidFill>
          <a:ln w="9525">
            <a:solidFill>
              <a:srgbClr val="22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563856" y="4514994"/>
            <a:ext cx="5093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22DDBB"/>
                </a:solidFill>
                <a:latin typeface="Poppins" panose="00000500000000000000"/>
              </a:rPr>
              <a:t>Explainable AI Layer</a:t>
            </a:r>
            <a:endParaRPr sz="1700" b="1" i="0" dirty="0">
              <a:solidFill>
                <a:srgbClr val="22DDBB"/>
              </a:solidFill>
              <a:latin typeface="Poppins" panose="0000050000000000000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847320" y="5259471"/>
            <a:ext cx="512064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Knowledge-base of Tamil film dialogues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Maps phrase to meme template or dialogue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Identifies sarcasm vehicle and intent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Plain-English moderator explanation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 panose="020F0502020204030204"/>
              </a:rPr>
              <a:t>  ‣  Severity score + structured JSON output</a:t>
            </a:r>
            <a:endParaRPr sz="1600" b="0" dirty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72200" y="630936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3A5A3A"/>
                </a:solidFill>
                <a:latin typeface="Consolas" panose="020B0609020204030204"/>
              </a:rPr>
              <a:t>&gt;</a:t>
            </a:r>
            <a:endParaRPr sz="1400" b="1" i="0" dirty="0">
              <a:solidFill>
                <a:srgbClr val="3A5A3A"/>
              </a:solidFill>
              <a:latin typeface="Consolas" panose="020B0609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115800" y="630936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A5A3A"/>
                </a:solidFill>
                <a:latin typeface="Consolas" panose="020B0609020204030204"/>
              </a:rPr>
              <a:t>&gt;</a:t>
            </a:r>
            <a:endParaRPr sz="1400" b="1" i="0">
              <a:solidFill>
                <a:srgbClr val="3A5A3A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444" b="-1744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533400" y="853689"/>
            <a:ext cx="13845498" cy="787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UML DIAGRAM</a:t>
            </a:r>
            <a:endParaRPr lang="en-US" sz="5200" dirty="0">
              <a:solidFill>
                <a:srgbClr val="C1FF72"/>
              </a:solidFill>
              <a:latin typeface="Space Age"/>
              <a:ea typeface="Space Age"/>
              <a:cs typeface="Space Age"/>
              <a:sym typeface="Space Age"/>
            </a:endParaRPr>
          </a:p>
        </p:txBody>
      </p:sp>
      <p:sp>
        <p:nvSpPr>
          <p:cNvPr id="5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444" b="-17444"/>
            </a:stretch>
          </a:blipFill>
        </p:spPr>
        <p:txBody>
          <a:bodyPr/>
          <a:lstStyle/>
          <a:p/>
        </p:txBody>
      </p:sp>
      <p:sp>
        <p:nvSpPr>
          <p:cNvPr id="7" name="TextBox 3"/>
          <p:cNvSpPr txBox="1"/>
          <p:nvPr/>
        </p:nvSpPr>
        <p:spPr>
          <a:xfrm>
            <a:off x="533400" y="853689"/>
            <a:ext cx="13845498" cy="787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UML DIAGRAM</a:t>
            </a:r>
            <a:endParaRPr lang="en-US" sz="5200" dirty="0">
              <a:solidFill>
                <a:srgbClr val="C1FF72"/>
              </a:solidFill>
              <a:latin typeface="Space Age"/>
              <a:ea typeface="Space Age"/>
              <a:cs typeface="Space Age"/>
              <a:sym typeface="Space Age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1995193"/>
            <a:ext cx="1627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 dirty="0">
                <a:solidFill>
                  <a:srgbClr val="B8D4A8"/>
                </a:solidFill>
                <a:latin typeface="Poppins" panose="00000500000000000000"/>
              </a:rPr>
              <a:t>Technologies &amp; System Architecture</a:t>
            </a:r>
            <a:endParaRPr sz="1700" b="0" i="1" dirty="0">
              <a:solidFill>
                <a:srgbClr val="B8D4A8"/>
              </a:solidFill>
              <a:latin typeface="Poppins" panose="0000050000000000000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2000" y="2802489"/>
            <a:ext cx="162763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rcRect b="47672"/>
          <a:stretch>
            <a:fillRect/>
          </a:stretch>
        </p:blipFill>
        <p:spPr>
          <a:xfrm>
            <a:off x="447684" y="3086100"/>
            <a:ext cx="8696316" cy="67767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rcRect t="51778"/>
          <a:stretch>
            <a:fillRect/>
          </a:stretch>
        </p:blipFill>
        <p:spPr>
          <a:xfrm>
            <a:off x="9528352" y="3093720"/>
            <a:ext cx="8454848" cy="67767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444" b="-1744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533400" y="853689"/>
            <a:ext cx="13845498" cy="787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UML DIAGRAM</a:t>
            </a:r>
            <a:endParaRPr lang="en-US" sz="5200" dirty="0">
              <a:solidFill>
                <a:srgbClr val="C1FF72"/>
              </a:solidFill>
              <a:latin typeface="Space Age"/>
              <a:ea typeface="Space Age"/>
              <a:cs typeface="Space Age"/>
              <a:sym typeface="Space Age"/>
            </a:endParaRPr>
          </a:p>
        </p:txBody>
      </p:sp>
      <p:sp>
        <p:nvSpPr>
          <p:cNvPr id="5" name="Freeform 2"/>
          <p:cNvSpPr/>
          <p:nvPr/>
        </p:nvSpPr>
        <p:spPr>
          <a:xfrm>
            <a:off x="2458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444" b="-1744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Freeform 2"/>
          <p:cNvSpPr/>
          <p:nvPr/>
        </p:nvSpPr>
        <p:spPr>
          <a:xfrm>
            <a:off x="-34413" y="-68580"/>
            <a:ext cx="18346994" cy="1054608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444" b="-1744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30352" y="190500"/>
            <a:ext cx="13716000" cy="102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 dirty="0">
                <a:solidFill>
                  <a:srgbClr val="C1FF72"/>
                </a:solidFill>
                <a:latin typeface="Space Age"/>
              </a:rPr>
              <a:t>TECH STACK</a:t>
            </a:r>
            <a:endParaRPr sz="5200" b="0" i="0" dirty="0">
              <a:solidFill>
                <a:srgbClr val="C1FF72"/>
              </a:solidFill>
              <a:latin typeface="Space Age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0352" y="1783080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" y="1920240"/>
            <a:ext cx="17236440" cy="530352"/>
          </a:xfrm>
          <a:prstGeom prst="rect">
            <a:avLst/>
          </a:prstGeom>
          <a:solidFill>
            <a:srgbClr val="081408"/>
          </a:solidFill>
          <a:ln w="1016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1956816"/>
            <a:ext cx="17145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1FF72"/>
                </a:solidFill>
                <a:latin typeface="Consolas" panose="020B0609020204030204"/>
              </a:rPr>
              <a:t>Raw Tanglish Input  »  Regex Normalizer  »  LinearSVC Classifier  »  Cultural Context Engine  »  JSON Output</a:t>
            </a:r>
            <a:endParaRPr sz="1300" b="0" i="0">
              <a:solidFill>
                <a:srgbClr val="C1FF72"/>
              </a:solidFill>
              <a:latin typeface="Consolas" panose="020B0609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0352" y="2606040"/>
            <a:ext cx="4224528" cy="4937760"/>
          </a:xfrm>
          <a:prstGeom prst="rect">
            <a:avLst/>
          </a:prstGeom>
          <a:solidFill>
            <a:srgbClr val="0C1C0C"/>
          </a:solidFill>
          <a:ln w="1016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" y="2606040"/>
            <a:ext cx="4224528" cy="54864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2734056"/>
            <a:ext cx="3950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1FF72"/>
                </a:solidFill>
                <a:latin typeface="Poppins" panose="00000500000000000000"/>
              </a:rPr>
              <a:t>NLP &amp; AI Models</a:t>
            </a:r>
            <a:endParaRPr sz="1700" b="1" i="0">
              <a:solidFill>
                <a:srgbClr val="C1FF72"/>
              </a:solidFill>
              <a:latin typeface="Poppins" panose="0000050000000000000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94944" y="3200400"/>
            <a:ext cx="3904488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319272"/>
            <a:ext cx="3950208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Python 3.11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TF-IDF Vectorization (Word &amp; Char n-grams)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LinearSVC (Support Vector Classifier)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r>
              <a:rPr sz="1600">
                <a:solidFill>
                  <a:srgbClr val="B8D4A8"/>
                </a:solidFill>
                <a:latin typeface="Calibri" panose="020F0502020204030204"/>
                <a:sym typeface="+mn-ea"/>
              </a:rPr>
              <a:t>▸  XLM-RoBERTa (fallback)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scikit-learn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NLTK  /  spaCy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809744" y="2606040"/>
            <a:ext cx="4224528" cy="4937760"/>
          </a:xfrm>
          <a:prstGeom prst="rect">
            <a:avLst/>
          </a:prstGeom>
          <a:solidFill>
            <a:srgbClr val="0C1C0C"/>
          </a:solidFill>
          <a:ln w="1016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09744" y="2606040"/>
            <a:ext cx="4224528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2734056"/>
            <a:ext cx="3950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Poppins" panose="00000500000000000000"/>
              </a:rPr>
              <a:t>Data &amp; Processing</a:t>
            </a:r>
            <a:endParaRPr sz="1700" b="1" i="0">
              <a:solidFill>
                <a:srgbClr val="FFD700"/>
              </a:solidFill>
              <a:latin typeface="Poppins" panose="0000050000000000000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974336" y="3200400"/>
            <a:ext cx="3904488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74336" y="3319272"/>
            <a:ext cx="39502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Custom Tanglish Corpus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Phonetic Mapping Tables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Regex Normalizer Engine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Pandas  /  NumPy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Label Studio (annotation)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Davidson Hate Speech Dataset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TweetEval (Irony) Dataset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089136" y="2606040"/>
            <a:ext cx="4224528" cy="4937760"/>
          </a:xfrm>
          <a:prstGeom prst="rect">
            <a:avLst/>
          </a:prstGeom>
          <a:solidFill>
            <a:srgbClr val="0C1C0C"/>
          </a:solidFill>
          <a:ln w="1016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89136" y="2606040"/>
            <a:ext cx="4224528" cy="54864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53728" y="2734056"/>
            <a:ext cx="3950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DDBB"/>
                </a:solidFill>
                <a:latin typeface="Poppins" panose="00000500000000000000"/>
              </a:rPr>
              <a:t>Backend &amp; API</a:t>
            </a:r>
            <a:endParaRPr sz="1700" b="1" i="0">
              <a:solidFill>
                <a:srgbClr val="22DDBB"/>
              </a:solidFill>
              <a:latin typeface="Poppins" panose="0000050000000000000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253728" y="3200400"/>
            <a:ext cx="3904488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53728" y="3319272"/>
            <a:ext cx="39502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FastAPI  +  Uvicorn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REST API  /  JSON Output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Pydantic Validation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Docker (deployment-ready)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OAuth2 (future scope)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Swagger Auto-Docs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3368528" y="2606040"/>
            <a:ext cx="4224528" cy="4937760"/>
          </a:xfrm>
          <a:prstGeom prst="rect">
            <a:avLst/>
          </a:prstGeom>
          <a:solidFill>
            <a:srgbClr val="0C1C0C"/>
          </a:solidFill>
          <a:ln w="1016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3368528" y="2606040"/>
            <a:ext cx="4224528" cy="54864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533120" y="2734056"/>
            <a:ext cx="3950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8822"/>
                </a:solidFill>
                <a:latin typeface="Poppins" panose="00000500000000000000"/>
              </a:rPr>
              <a:t>Frontend &amp; Demo</a:t>
            </a:r>
            <a:endParaRPr sz="1700" b="1" i="0">
              <a:solidFill>
                <a:srgbClr val="FF8822"/>
              </a:solidFill>
              <a:latin typeface="Poppins" panose="0000050000000000000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3533120" y="3200400"/>
            <a:ext cx="3904488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533120" y="3319272"/>
            <a:ext cx="39502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HTML5  /  CSS3  /  JS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Cyber-green dark UI theme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GitHub Pages hosting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Responsive design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8 live demo examples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 panose="020F0502020204030204"/>
              </a:rPr>
              <a:t>  ▸  ssr446.github.io/SOLX_Sample</a:t>
            </a:r>
            <a:endParaRPr sz="160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30352" y="7662672"/>
            <a:ext cx="17236440" cy="2331720"/>
          </a:xfrm>
          <a:prstGeom prst="rect">
            <a:avLst/>
          </a:prstGeom>
          <a:solidFill>
            <a:srgbClr val="081408"/>
          </a:solidFill>
          <a:ln w="1905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0352" y="7662672"/>
            <a:ext cx="64008" cy="2331720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77998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1FF72"/>
                </a:solidFill>
                <a:latin typeface="Poppins" panose="00000500000000000000"/>
              </a:rPr>
              <a:t>WHY SOLX IS UNIQUE</a:t>
            </a:r>
            <a:endParaRPr sz="1500" b="1" i="0">
              <a:solidFill>
                <a:srgbClr val="C1FF72"/>
              </a:solidFill>
              <a:latin typeface="Poppins" panose="0000050000000000000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77240" y="8257032"/>
            <a:ext cx="54864" cy="1463040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5256" y="8229600"/>
            <a:ext cx="3931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 panose="020F0502020204030204"/>
              </a:rPr>
              <a:t>First system to combine Tanglish normalization + hate detection + cultural explainability in one pipeline — no existing tool does all three</a:t>
            </a:r>
            <a:endParaRPr sz="1600" b="0" i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5093208" y="8257032"/>
            <a:ext cx="54864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21224" y="8229600"/>
            <a:ext cx="3931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 panose="020F0502020204030204"/>
              </a:rPr>
              <a:t>Cultural Context Engine acts like a "Tamil Internet Anthropologist" — identifies sarcasm that no keyword filter or generic NLP model can detect</a:t>
            </a:r>
            <a:endParaRPr sz="1600" b="0" i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9409176" y="8257032"/>
            <a:ext cx="54864" cy="1463040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37192" y="8229600"/>
            <a:ext cx="3931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 panose="020F0502020204030204"/>
              </a:rPr>
              <a:t>Explainability-first design: generates moderator-ready plain-English explanations, not just toxic/non-toxic binary labels</a:t>
            </a:r>
            <a:endParaRPr sz="1600" b="0" i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13725144" y="8257032"/>
            <a:ext cx="54864" cy="1463040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853160" y="8229600"/>
            <a:ext cx="3931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 panose="020F0502020204030204"/>
              </a:rPr>
              <a:t>Modular 3-stage architecture — each stage (Normalizer, Classifier, Explainer) can be independently upgraded without breaking the pipeline</a:t>
            </a:r>
            <a:endParaRPr sz="1600" b="0" i="0">
              <a:solidFill>
                <a:srgbClr val="B8D4A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444" b="-17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28600" y="648567"/>
            <a:ext cx="15035335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WORKING PROTOTYPE</a:t>
            </a:r>
            <a:endParaRPr lang="en-US" sz="5200" dirty="0">
              <a:solidFill>
                <a:srgbClr val="C1FF72"/>
              </a:solidFill>
              <a:latin typeface="Space Age"/>
              <a:ea typeface="Space Age"/>
              <a:cs typeface="Space Age"/>
              <a:sym typeface="Space Ag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888843"/>
            <a:ext cx="16276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 dirty="0">
                <a:solidFill>
                  <a:srgbClr val="B8D4A8"/>
                </a:solidFill>
                <a:latin typeface="Poppins" panose="00000500000000000000"/>
              </a:rPr>
              <a:t>Simulated end-to-end demo — click any example phrase at: </a:t>
            </a:r>
            <a:r>
              <a:rPr sz="1700" b="0" i="1" dirty="0">
                <a:solidFill>
                  <a:srgbClr val="C1FF72"/>
                </a:solidFill>
                <a:latin typeface="Poppins" panose="00000500000000000000"/>
                <a:hlinkClick r:id="rId2" action="ppaction://hlinkfile"/>
              </a:rPr>
              <a:t>ssr446.github.io/</a:t>
            </a:r>
            <a:r>
              <a:rPr sz="1700" b="0" i="1" dirty="0" err="1">
                <a:solidFill>
                  <a:srgbClr val="C1FF72"/>
                </a:solidFill>
                <a:latin typeface="Poppins" panose="00000500000000000000"/>
                <a:hlinkClick r:id="rId2" action="ppaction://hlinkfile"/>
              </a:rPr>
              <a:t>SOLX_Sample</a:t>
            </a:r>
            <a:endParaRPr sz="2200" b="0" i="1" dirty="0">
              <a:solidFill>
                <a:srgbClr val="C1FF72"/>
              </a:solidFill>
              <a:latin typeface="Poppins" panose="0000050000000000000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2705909"/>
            <a:ext cx="162763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69640"/>
            <a:ext cx="7680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C1FF72"/>
                </a:solidFill>
                <a:latin typeface="Consolas" panose="020B0609020204030204"/>
              </a:rPr>
              <a:t>INPUT  (Raw </a:t>
            </a:r>
            <a:r>
              <a:rPr sz="1300" b="1" i="0" dirty="0" err="1">
                <a:solidFill>
                  <a:srgbClr val="C1FF72"/>
                </a:solidFill>
                <a:latin typeface="Consolas" panose="020B0609020204030204"/>
              </a:rPr>
              <a:t>Tanglish</a:t>
            </a:r>
            <a:r>
              <a:rPr sz="1300" b="1" i="0" dirty="0">
                <a:solidFill>
                  <a:srgbClr val="C1FF72"/>
                </a:solidFill>
                <a:latin typeface="Consolas" panose="020B0609020204030204"/>
              </a:rPr>
              <a:t>)</a:t>
            </a:r>
            <a:endParaRPr sz="1300" b="1" i="0" dirty="0">
              <a:solidFill>
                <a:srgbClr val="C1FF72"/>
              </a:solidFill>
              <a:latin typeface="Consolas" panose="020B0609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" y="3730752"/>
            <a:ext cx="7680960" cy="822960"/>
          </a:xfrm>
          <a:prstGeom prst="rect">
            <a:avLst/>
          </a:prstGeom>
          <a:solidFill>
            <a:srgbClr val="040E04"/>
          </a:solidFill>
          <a:ln w="1524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906012"/>
            <a:ext cx="7406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C1FF72"/>
                </a:solidFill>
                <a:latin typeface="Consolas" panose="020B0609020204030204"/>
              </a:rPr>
              <a:t>"</a:t>
            </a:r>
            <a:r>
              <a:rPr sz="1300" b="0" i="1" dirty="0" err="1">
                <a:solidFill>
                  <a:srgbClr val="C1FF72"/>
                </a:solidFill>
                <a:latin typeface="Consolas" panose="020B0609020204030204"/>
              </a:rPr>
              <a:t>Avaru</a:t>
            </a:r>
            <a:r>
              <a:rPr sz="1300" b="0" i="1" dirty="0">
                <a:solidFill>
                  <a:srgbClr val="C1FF72"/>
                </a:solidFill>
                <a:latin typeface="Consolas" panose="020B0609020204030204"/>
              </a:rPr>
              <a:t> </a:t>
            </a:r>
            <a:r>
              <a:rPr sz="1300" b="0" i="1" dirty="0" err="1">
                <a:solidFill>
                  <a:srgbClr val="C1FF72"/>
                </a:solidFill>
                <a:latin typeface="Consolas" panose="020B0609020204030204"/>
              </a:rPr>
              <a:t>periya</a:t>
            </a:r>
            <a:r>
              <a:rPr sz="1300" b="0" i="1" dirty="0">
                <a:solidFill>
                  <a:srgbClr val="C1FF72"/>
                </a:solidFill>
                <a:latin typeface="Consolas" panose="020B0609020204030204"/>
              </a:rPr>
              <a:t> </a:t>
            </a:r>
            <a:r>
              <a:rPr sz="1300" b="0" i="1" dirty="0" err="1">
                <a:solidFill>
                  <a:srgbClr val="C1FF72"/>
                </a:solidFill>
                <a:latin typeface="Consolas" panose="020B0609020204030204"/>
              </a:rPr>
              <a:t>Appatakar</a:t>
            </a:r>
            <a:r>
              <a:rPr sz="1300" b="0" i="1" dirty="0">
                <a:solidFill>
                  <a:srgbClr val="C1FF72"/>
                </a:solidFill>
                <a:latin typeface="Consolas" panose="020B0609020204030204"/>
              </a:rPr>
              <a:t> da, </a:t>
            </a:r>
            <a:r>
              <a:rPr sz="1300" b="0" i="1" dirty="0" err="1">
                <a:solidFill>
                  <a:srgbClr val="C1FF72"/>
                </a:solidFill>
                <a:latin typeface="Consolas" panose="020B0609020204030204"/>
              </a:rPr>
              <a:t>yenna</a:t>
            </a:r>
            <a:r>
              <a:rPr sz="1300" b="0" i="1" dirty="0">
                <a:solidFill>
                  <a:srgbClr val="C1FF72"/>
                </a:solidFill>
                <a:latin typeface="Consolas" panose="020B0609020204030204"/>
              </a:rPr>
              <a:t> </a:t>
            </a:r>
            <a:r>
              <a:rPr sz="1300" b="0" i="1" dirty="0" err="1">
                <a:solidFill>
                  <a:srgbClr val="C1FF72"/>
                </a:solidFill>
                <a:latin typeface="Consolas" panose="020B0609020204030204"/>
              </a:rPr>
              <a:t>pannuvanunga</a:t>
            </a:r>
            <a:r>
              <a:rPr sz="1300" b="0" i="1" dirty="0">
                <a:solidFill>
                  <a:srgbClr val="C1FF72"/>
                </a:solidFill>
                <a:latin typeface="Consolas" panose="020B0609020204030204"/>
              </a:rPr>
              <a:t>"</a:t>
            </a:r>
            <a:endParaRPr sz="1300" b="0" i="1" dirty="0">
              <a:solidFill>
                <a:srgbClr val="C1FF72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4880" y="4864608"/>
            <a:ext cx="7680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D700"/>
                </a:solidFill>
                <a:latin typeface="Consolas" panose="020B0609020204030204"/>
              </a:rPr>
              <a:t>NORMALIZED TEXT</a:t>
            </a:r>
            <a:endParaRPr sz="1300" b="1" i="0" dirty="0">
              <a:solidFill>
                <a:srgbClr val="FFD700"/>
              </a:solidFill>
              <a:latin typeface="Consolas" panose="020B0609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05840" y="5376672"/>
            <a:ext cx="7680960" cy="822960"/>
          </a:xfrm>
          <a:prstGeom prst="rect">
            <a:avLst/>
          </a:prstGeom>
          <a:solidFill>
            <a:srgbClr val="040E04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573268"/>
            <a:ext cx="7406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700"/>
                </a:solidFill>
                <a:latin typeface="Consolas" panose="020B0609020204030204"/>
              </a:rPr>
              <a:t>"Avar periya Aptakar da, enna pannuvanga"</a:t>
            </a:r>
            <a:endParaRPr sz="1300" b="0" i="1">
              <a:solidFill>
                <a:srgbClr val="FFD700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8920" y="41788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3A5A3A"/>
                </a:solidFill>
                <a:latin typeface="Consolas" panose="020B0609020204030204"/>
              </a:rPr>
              <a:t>v  Normalizer  v</a:t>
            </a:r>
            <a:endParaRPr sz="1400" b="1" i="0" dirty="0">
              <a:solidFill>
                <a:srgbClr val="3A5A3A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03120" y="58567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3A5A3A"/>
                </a:solidFill>
                <a:latin typeface="Consolas" panose="020B0609020204030204"/>
              </a:rPr>
              <a:t>v  Classifier + Explainer  v</a:t>
            </a:r>
            <a:endParaRPr sz="1400" b="1" i="0" dirty="0">
              <a:solidFill>
                <a:srgbClr val="3A5A3A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6370243"/>
            <a:ext cx="7680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5555"/>
                </a:solidFill>
                <a:latin typeface="Consolas" panose="020B0609020204030204"/>
              </a:rPr>
              <a:t>OUTPUT</a:t>
            </a:r>
            <a:endParaRPr sz="1300" b="1" i="0" dirty="0">
              <a:solidFill>
                <a:srgbClr val="FF5555"/>
              </a:solidFill>
              <a:latin typeface="Consolas" panose="020B0609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05840" y="6748272"/>
            <a:ext cx="7680960" cy="3154680"/>
          </a:xfrm>
          <a:prstGeom prst="rect">
            <a:avLst/>
          </a:prstGeom>
          <a:solidFill>
            <a:srgbClr val="0C0606"/>
          </a:solidFill>
          <a:ln w="19050"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68580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 panose="00000500000000000000"/>
              </a:rPr>
              <a:t>Sarcasm: 82%   |   Cyberbullying: 74%</a:t>
            </a:r>
            <a:endParaRPr sz="1700" b="1" i="0">
              <a:solidFill>
                <a:srgbClr val="FFFFFF"/>
              </a:solidFill>
              <a:latin typeface="Poppins" panose="0000050000000000000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88720" y="7406640"/>
            <a:ext cx="740664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B8D4A8"/>
                </a:solidFill>
                <a:latin typeface="Calibri" panose="020F0502020204030204"/>
              </a:rPr>
              <a:t>Cultural Ref: "</a:t>
            </a:r>
            <a:r>
              <a:rPr sz="1600" b="0" i="1" dirty="0" err="1">
                <a:solidFill>
                  <a:srgbClr val="B8D4A8"/>
                </a:solidFill>
                <a:latin typeface="Calibri" panose="020F0502020204030204"/>
              </a:rPr>
              <a:t>Appatakar</a:t>
            </a:r>
            <a:r>
              <a:rPr sz="1600" b="0" i="1" dirty="0">
                <a:solidFill>
                  <a:srgbClr val="B8D4A8"/>
                </a:solidFill>
                <a:latin typeface="Calibri" panose="020F0502020204030204"/>
              </a:rPr>
              <a:t>" — sarcastic title for
someone pretending to be superior.
Origin: </a:t>
            </a:r>
            <a:r>
              <a:rPr sz="1600" b="0" i="1" dirty="0" err="1">
                <a:solidFill>
                  <a:srgbClr val="B8D4A8"/>
                </a:solidFill>
                <a:latin typeface="Calibri" panose="020F0502020204030204"/>
              </a:rPr>
              <a:t>Tanglish</a:t>
            </a:r>
            <a:r>
              <a:rPr sz="1600" b="0" i="1" dirty="0">
                <a:solidFill>
                  <a:srgbClr val="B8D4A8"/>
                </a:solidFill>
                <a:latin typeface="Calibri" panose="020F0502020204030204"/>
              </a:rPr>
              <a:t> meme template (2019 onwards).</a:t>
            </a:r>
            <a:endParaRPr sz="1600" b="0" i="1" dirty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35440" y="3093720"/>
            <a:ext cx="88696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C1FF72"/>
                </a:solidFill>
                <a:latin typeface="Poppins" panose="00000500000000000000"/>
              </a:rPr>
              <a:t>KEY FUNCTIONALITIES</a:t>
            </a:r>
            <a:endParaRPr sz="1700" b="1" i="0" dirty="0">
              <a:solidFill>
                <a:srgbClr val="C1FF72"/>
              </a:solidFill>
              <a:latin typeface="Poppins" panose="0000050000000000000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235440" y="3867912"/>
            <a:ext cx="886968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396240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4069080"/>
            <a:ext cx="54864" cy="914400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416052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C1FF72"/>
                </a:solidFill>
                <a:latin typeface="Poppins" panose="00000500000000000000"/>
              </a:rPr>
              <a:t>Multi-Label Detection</a:t>
            </a:r>
            <a:endParaRPr sz="1700" b="1" i="0" dirty="0">
              <a:solidFill>
                <a:srgbClr val="C1FF72"/>
              </a:solidFill>
              <a:latin typeface="Poppins" panose="0000050000000000000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18320" y="45445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 panose="020F0502020204030204"/>
              </a:rPr>
              <a:t>Flags Toxic, Sarcastic, Cyberbullying simultaneously</a:t>
            </a:r>
            <a:endParaRPr sz="1600" b="0" i="0" dirty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235440" y="507492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5074920"/>
            <a:ext cx="54864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516636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Poppins" panose="00000500000000000000"/>
              </a:rPr>
              <a:t>Severity Scoring</a:t>
            </a:r>
            <a:endParaRPr sz="1700" b="1" i="0">
              <a:solidFill>
                <a:srgbClr val="FFD700"/>
              </a:solidFill>
              <a:latin typeface="Poppins" panose="0000050000000000000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18320" y="555040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 panose="020F0502020204030204"/>
              </a:rPr>
              <a:t>0-100% confidence score per detected label</a:t>
            </a:r>
            <a:endParaRPr sz="1600" b="0" i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235440" y="608076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6080760"/>
            <a:ext cx="54864" cy="914400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617220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DDBB"/>
                </a:solidFill>
                <a:latin typeface="Poppins" panose="00000500000000000000"/>
              </a:rPr>
              <a:t>Tanglish Normalizer</a:t>
            </a:r>
            <a:endParaRPr sz="1700" b="1" i="0">
              <a:solidFill>
                <a:srgbClr val="22DDBB"/>
              </a:solidFill>
              <a:latin typeface="Poppins" panose="0000050000000000000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18320" y="655624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 panose="020F0502020204030204"/>
              </a:rPr>
              <a:t>Maps common Tanglish spelling variants using regex / substring rules</a:t>
            </a:r>
            <a:endParaRPr sz="1600" b="0" i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235440" y="708660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7086600"/>
            <a:ext cx="54864" cy="914400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71780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1FF72"/>
                </a:solidFill>
                <a:latin typeface="Poppins" panose="00000500000000000000"/>
              </a:rPr>
              <a:t>Cultural Context Engine</a:t>
            </a:r>
            <a:endParaRPr sz="1700" b="1" i="0">
              <a:solidFill>
                <a:srgbClr val="C1FF72"/>
              </a:solidFill>
              <a:latin typeface="Poppins" panose="0000050000000000000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418320" y="756208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 panose="020F0502020204030204"/>
              </a:rPr>
              <a:t>Identifies film dialogues &amp; meme templates</a:t>
            </a:r>
            <a:endParaRPr sz="1600" b="0" i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235440" y="809244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8092440"/>
            <a:ext cx="54864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818388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Poppins" panose="00000500000000000000"/>
              </a:rPr>
              <a:t>Explainable AI Output</a:t>
            </a:r>
            <a:endParaRPr sz="1700" b="1" i="0">
              <a:solidFill>
                <a:srgbClr val="FFD700"/>
              </a:solidFill>
              <a:latin typeface="Poppins" panose="0000050000000000000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418320" y="856792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 panose="020F0502020204030204"/>
              </a:rPr>
              <a:t>Plain-English justification for every decision</a:t>
            </a:r>
            <a:endParaRPr sz="1600" b="0" i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235440" y="909828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9098280"/>
            <a:ext cx="54864" cy="914400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918972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DDBB"/>
                </a:solidFill>
                <a:latin typeface="Poppins" panose="00000500000000000000"/>
              </a:rPr>
              <a:t>API-Ready JSON</a:t>
            </a:r>
            <a:endParaRPr sz="1700" b="1" i="0">
              <a:solidFill>
                <a:srgbClr val="22DDBB"/>
              </a:solidFill>
              <a:latin typeface="Poppins" panose="0000050000000000000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418320" y="95737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 panose="020F0502020204030204"/>
              </a:rPr>
              <a:t>Structured output plugs into any platform backend</a:t>
            </a:r>
            <a:endParaRPr sz="1600" b="0" i="0">
              <a:solidFill>
                <a:srgbClr val="B8D4A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444" b="-17444"/>
            </a:stretch>
          </a:blipFill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338328" y="800100"/>
            <a:ext cx="15829929" cy="1820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60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REFERENCES &amp; CITATIONS</a:t>
            </a:r>
            <a:endParaRPr lang="en-US" sz="5200" dirty="0">
              <a:solidFill>
                <a:srgbClr val="C1FF72"/>
              </a:solidFill>
              <a:latin typeface="Space Age"/>
              <a:ea typeface="Space Age"/>
              <a:cs typeface="Space Age"/>
              <a:sym typeface="Space Age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8328" y="2846097"/>
            <a:ext cx="17647920" cy="30427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" y="3237715"/>
            <a:ext cx="685800" cy="3628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C1FF72"/>
                </a:solidFill>
                <a:latin typeface="Consolas" panose="020B0609020204030204"/>
              </a:rPr>
              <a:t>[1]</a:t>
            </a:r>
            <a:endParaRPr sz="1300" b="1" i="0" dirty="0">
              <a:solidFill>
                <a:srgbClr val="C1FF72"/>
              </a:solidFill>
              <a:latin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3185160"/>
            <a:ext cx="1687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 panose="020F0502020204030204"/>
              </a:rPr>
              <a:t>Chakravarthi, B. R. et al. (2021). Dravidian-</a:t>
            </a:r>
            <a:r>
              <a:rPr sz="1600" b="0" i="0" dirty="0" err="1">
                <a:solidFill>
                  <a:srgbClr val="B8D4A8"/>
                </a:solidFill>
                <a:latin typeface="Calibri" panose="020F0502020204030204"/>
              </a:rPr>
              <a:t>CodeMix</a:t>
            </a:r>
            <a:r>
              <a:rPr sz="1600" b="0" i="0" dirty="0">
                <a:solidFill>
                  <a:srgbClr val="B8D4A8"/>
                </a:solidFill>
                <a:latin typeface="Calibri" panose="020F0502020204030204"/>
              </a:rPr>
              <a:t>: Sentiment Analysis for Code-Mixed Social Media Text. Proceedings of EACL. ACL Anthology.</a:t>
            </a:r>
            <a:endParaRPr sz="1600" b="0" i="0" dirty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8328" y="4026408"/>
            <a:ext cx="176479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355676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C1FF72"/>
                </a:solidFill>
                <a:latin typeface="Consolas" panose="020B0609020204030204"/>
              </a:rPr>
              <a:t>[2]</a:t>
            </a:r>
            <a:endParaRPr sz="1300" b="1" i="0" dirty="0">
              <a:solidFill>
                <a:srgbClr val="C1FF72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8992" y="4302252"/>
            <a:ext cx="1687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 panose="020F0502020204030204"/>
              </a:rPr>
              <a:t>Kula, M. et al. (2020). Offensive Language Identification in Dravidian Languages. Proceedings of FIRE 2020 Workshop.</a:t>
            </a:r>
            <a:endParaRPr sz="1600" b="0" i="0" dirty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8328" y="5115892"/>
            <a:ext cx="17647920" cy="44549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524191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C1FF72"/>
                </a:solidFill>
                <a:latin typeface="Consolas" panose="020B0609020204030204"/>
              </a:rPr>
              <a:t>[3]</a:t>
            </a:r>
            <a:endParaRPr sz="1300" b="1" i="0" dirty="0">
              <a:solidFill>
                <a:srgbClr val="C1FF72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5415300"/>
            <a:ext cx="1687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 panose="020F0502020204030204"/>
              </a:rPr>
              <a:t>Davidson, T., et al. (2017). "Automated Hate Speech Detection and the Problem of Offensive Language." Proceedings of ICWSM.</a:t>
            </a:r>
            <a:endParaRPr sz="1600" b="0" i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8328" y="6227065"/>
            <a:ext cx="176479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6613940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C1FF72"/>
                </a:solidFill>
                <a:latin typeface="Consolas" panose="020B0609020204030204"/>
              </a:rPr>
              <a:t>[4]</a:t>
            </a:r>
            <a:endParaRPr sz="1300" b="1" i="0" dirty="0">
              <a:solidFill>
                <a:srgbClr val="C1FF72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8992" y="6552689"/>
            <a:ext cx="1687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 panose="020F0502020204030204"/>
              </a:rPr>
              <a:t>Barbieri, F., et al. (2020). "TweetEval: Unified Benchmark and Comparative Evaluation for Tweet Classification." Findings of EMNLP.</a:t>
            </a:r>
            <a:endParaRPr sz="1600" b="0" i="0">
              <a:solidFill>
                <a:srgbClr val="B8D4A8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7232804"/>
            <a:ext cx="176479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8275421"/>
            <a:ext cx="176479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444" b="-17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23493" y="7929022"/>
            <a:ext cx="5590915" cy="1329278"/>
          </a:xfrm>
          <a:custGeom>
            <a:avLst/>
            <a:gdLst/>
            <a:ahLst/>
            <a:cxnLst/>
            <a:rect l="l" t="t" r="r" b="b"/>
            <a:pathLst>
              <a:path w="5590915" h="1329278">
                <a:moveTo>
                  <a:pt x="0" y="0"/>
                </a:moveTo>
                <a:lnTo>
                  <a:pt x="5590916" y="0"/>
                </a:lnTo>
                <a:lnTo>
                  <a:pt x="5590916" y="1329278"/>
                </a:lnTo>
                <a:lnTo>
                  <a:pt x="0" y="1329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320577" y="7929022"/>
            <a:ext cx="5590915" cy="1329278"/>
          </a:xfrm>
          <a:custGeom>
            <a:avLst/>
            <a:gdLst/>
            <a:ahLst/>
            <a:cxnLst/>
            <a:rect l="l" t="t" r="r" b="b"/>
            <a:pathLst>
              <a:path w="5590915" h="1329278">
                <a:moveTo>
                  <a:pt x="5590916" y="0"/>
                </a:moveTo>
                <a:lnTo>
                  <a:pt x="0" y="0"/>
                </a:lnTo>
                <a:lnTo>
                  <a:pt x="0" y="1329278"/>
                </a:lnTo>
                <a:lnTo>
                  <a:pt x="5590916" y="1329278"/>
                </a:lnTo>
                <a:lnTo>
                  <a:pt x="55909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33908" y="4583213"/>
            <a:ext cx="14820184" cy="2255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20"/>
              </a:lnSpc>
            </a:pPr>
            <a:r>
              <a:rPr lang="en-US" sz="17415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THANK YOU</a:t>
            </a:r>
            <a:endParaRPr lang="en-US" sz="17415">
              <a:solidFill>
                <a:srgbClr val="C1FF72"/>
              </a:solidFill>
              <a:latin typeface="Space Age"/>
              <a:ea typeface="Space Age"/>
              <a:cs typeface="Space Age"/>
              <a:sym typeface="Space Age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1627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C1FF72"/>
                </a:solidFill>
                <a:latin typeface="Space Age"/>
              </a:rPr>
              <a:t>SOLX</a:t>
            </a:r>
            <a:endParaRPr sz="8000" b="1" i="0">
              <a:solidFill>
                <a:srgbClr val="C1FF72"/>
              </a:solidFill>
              <a:latin typeface="Space Ag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627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8D4A8"/>
                </a:solidFill>
                <a:latin typeface="Poppins" panose="00000500000000000000"/>
              </a:rPr>
              <a:t>Sarcasm &amp; Online harm Locator with eXplainability</a:t>
            </a:r>
            <a:endParaRPr sz="1500" b="0" i="1">
              <a:solidFill>
                <a:srgbClr val="B8D4A8"/>
              </a:solidFill>
              <a:latin typeface="Poppins" panose="0000050000000000000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0" y="2944368"/>
            <a:ext cx="1097280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0672"/>
            <a:ext cx="1627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8822"/>
                </a:solidFill>
                <a:latin typeface="Poppins" panose="00000500000000000000"/>
              </a:rPr>
              <a:t>Team  Inferno</a:t>
            </a:r>
            <a:endParaRPr sz="2200" b="1" i="0">
              <a:solidFill>
                <a:srgbClr val="FF8822"/>
              </a:solidFill>
              <a:latin typeface="Poppins" panose="0000050000000000000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3611880"/>
            <a:ext cx="1627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0" i="0" dirty="0">
                <a:solidFill>
                  <a:srgbClr val="B8D4A8"/>
                </a:solidFill>
                <a:latin typeface="Poppins" panose="00000500000000000000"/>
              </a:rPr>
              <a:t>Y </a:t>
            </a:r>
            <a:r>
              <a:rPr sz="1500" b="0" i="0" dirty="0">
                <a:solidFill>
                  <a:srgbClr val="B8D4A8"/>
                </a:solidFill>
                <a:latin typeface="Poppins" panose="00000500000000000000"/>
              </a:rPr>
              <a:t>Roshni      |     Sai Shivaram LN     |     Archana Ramesh</a:t>
            </a:r>
            <a:endParaRPr sz="1500" b="0" i="0" dirty="0">
              <a:solidFill>
                <a:srgbClr val="B8D4A8"/>
              </a:solidFill>
              <a:latin typeface="Poppins" panose="0000050000000000000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0" y="6995160"/>
            <a:ext cx="6400800" cy="640080"/>
          </a:xfrm>
          <a:prstGeom prst="rect">
            <a:avLst/>
          </a:prstGeom>
          <a:solidFill>
            <a:srgbClr val="061206"/>
          </a:solidFill>
          <a:ln w="1905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>
            <a:hlinkClick r:id="rId4" action="ppaction://hlinkfile"/>
          </p:cNvPr>
          <p:cNvSpPr txBox="1"/>
          <p:nvPr/>
        </p:nvSpPr>
        <p:spPr>
          <a:xfrm>
            <a:off x="5974080" y="7136892"/>
            <a:ext cx="630936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C1FF72"/>
                </a:solidFill>
                <a:latin typeface="Consolas" panose="020B0609020204030204"/>
              </a:rPr>
              <a:t>ssr446.github.io/</a:t>
            </a:r>
            <a:r>
              <a:rPr sz="1500" b="0" i="0" dirty="0" err="1">
                <a:solidFill>
                  <a:srgbClr val="C1FF72"/>
                </a:solidFill>
                <a:latin typeface="Consolas" panose="020B0609020204030204"/>
              </a:rPr>
              <a:t>SOLX_Sample</a:t>
            </a:r>
            <a:endParaRPr sz="1500" b="0" i="0" dirty="0">
              <a:solidFill>
                <a:srgbClr val="C1FF72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9802368"/>
            <a:ext cx="1627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A78"/>
                </a:solidFill>
                <a:latin typeface="Poppins" panose="00000500000000000000"/>
              </a:rPr>
              <a:t>NLP Hackathon 2026   |   SRM Institute of Science and Technology   |   Dept. of CSE</a:t>
            </a:r>
            <a:endParaRPr sz="1000" b="0" i="0">
              <a:solidFill>
                <a:srgbClr val="8AAA78"/>
              </a:solidFill>
              <a:latin typeface="Poppins" panose="0000050000000000000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43800" y="7136892"/>
            <a:ext cx="3124200" cy="3688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HyperlinkOverlay_LiveLink">
            <a:hlinkClick r:id="rId5"/>
          </p:cNvPr>
          <p:cNvSpPr/>
          <p:nvPr/>
        </p:nvSpPr>
        <p:spPr>
          <a:xfrm>
            <a:off x="5973775" y="7136892"/>
            <a:ext cx="63093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8767</Words>
  <Application>WPS Presentation</Application>
  <PresentationFormat>Custom</PresentationFormat>
  <Paragraphs>313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Poppins</vt:lpstr>
      <vt:lpstr>Space Age</vt:lpstr>
      <vt:lpstr>Calibri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NLP2026 TEMPLATE</dc:title>
  <dc:creator>Archana Ramesh</dc:creator>
  <cp:lastModifiedBy>WPS_1775632530</cp:lastModifiedBy>
  <cp:revision>10</cp:revision>
  <dcterms:created xsi:type="dcterms:W3CDTF">2006-08-16T00:00:00Z</dcterms:created>
  <dcterms:modified xsi:type="dcterms:W3CDTF">2026-08-14T05:10:40Z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06894073F3534C9C8ED82C73C9F2EB5C_12</vt:lpwstr>
  </property>
  <property fmtid="{D5CDD505-2E9C-101B-9397-08002B2CF9AE}" pid="3" name="KSOProductBuildVer">
    <vt:lpwstr>2057-12.2.0.23206</vt:lpwstr>
  </property>
</Properties>
</file>