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Space Ag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3493" y="6609216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20577" y="6609216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0853" y="6609216"/>
            <a:ext cx="1546294" cy="1474289"/>
          </a:xfrm>
          <a:custGeom>
            <a:avLst/>
            <a:gdLst/>
            <a:ahLst/>
            <a:cxnLst/>
            <a:rect r="r" b="b" t="t" l="l"/>
            <a:pathLst>
              <a:path h="1474289" w="1546294">
                <a:moveTo>
                  <a:pt x="0" y="0"/>
                </a:moveTo>
                <a:lnTo>
                  <a:pt x="1546294" y="0"/>
                </a:lnTo>
                <a:lnTo>
                  <a:pt x="1546294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10696" y="3171413"/>
            <a:ext cx="4548604" cy="479671"/>
          </a:xfrm>
          <a:custGeom>
            <a:avLst/>
            <a:gdLst/>
            <a:ahLst/>
            <a:cxnLst/>
            <a:rect r="r" b="b" t="t" l="l"/>
            <a:pathLst>
              <a:path h="479671" w="4548604">
                <a:moveTo>
                  <a:pt x="0" y="0"/>
                </a:moveTo>
                <a:lnTo>
                  <a:pt x="4548604" y="0"/>
                </a:lnTo>
                <a:lnTo>
                  <a:pt x="4548604" y="479671"/>
                </a:lnTo>
                <a:lnTo>
                  <a:pt x="0" y="47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28700" y="3171413"/>
            <a:ext cx="4548604" cy="479671"/>
          </a:xfrm>
          <a:custGeom>
            <a:avLst/>
            <a:gdLst/>
            <a:ahLst/>
            <a:cxnLst/>
            <a:rect r="r" b="b" t="t" l="l"/>
            <a:pathLst>
              <a:path h="479671" w="4548604">
                <a:moveTo>
                  <a:pt x="4548604" y="0"/>
                </a:moveTo>
                <a:lnTo>
                  <a:pt x="0" y="0"/>
                </a:lnTo>
                <a:lnTo>
                  <a:pt x="0" y="479671"/>
                </a:lnTo>
                <a:lnTo>
                  <a:pt x="4548604" y="479671"/>
                </a:lnTo>
                <a:lnTo>
                  <a:pt x="4548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6916" y="4897260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35732" y="4897260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50835" y="366451"/>
            <a:ext cx="3130400" cy="2804963"/>
          </a:xfrm>
          <a:custGeom>
            <a:avLst/>
            <a:gdLst/>
            <a:ahLst/>
            <a:cxnLst/>
            <a:rect r="r" b="b" t="t" l="l"/>
            <a:pathLst>
              <a:path h="2804963" w="3130400">
                <a:moveTo>
                  <a:pt x="0" y="0"/>
                </a:moveTo>
                <a:lnTo>
                  <a:pt x="3130400" y="0"/>
                </a:lnTo>
                <a:lnTo>
                  <a:pt x="3130400" y="2804962"/>
                </a:lnTo>
                <a:lnTo>
                  <a:pt x="0" y="280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387" y="32453"/>
            <a:ext cx="4223156" cy="1992493"/>
          </a:xfrm>
          <a:custGeom>
            <a:avLst/>
            <a:gdLst/>
            <a:ahLst/>
            <a:cxnLst/>
            <a:rect r="r" b="b" t="t" l="l"/>
            <a:pathLst>
              <a:path h="1992493" w="4223156">
                <a:moveTo>
                  <a:pt x="0" y="0"/>
                </a:moveTo>
                <a:lnTo>
                  <a:pt x="4223156" y="0"/>
                </a:lnTo>
                <a:lnTo>
                  <a:pt x="4223156" y="1992494"/>
                </a:lnTo>
                <a:lnTo>
                  <a:pt x="0" y="1992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01723" y="1017739"/>
            <a:ext cx="6942364" cy="45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sz="2667" spc="-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SRM INSTITUTE OF SCIENCE AND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7738" y="1741737"/>
            <a:ext cx="505033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3267" y="2291647"/>
            <a:ext cx="3138013" cy="30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  <a:spcBef>
                <a:spcPct val="0"/>
              </a:spcBef>
            </a:pPr>
            <a:r>
              <a:rPr lang="en-US" sz="1744" spc="-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AND INNOVATION CLUB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9886" y="4222584"/>
            <a:ext cx="13296148" cy="18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49"/>
              </a:lnSpc>
              <a:spcBef>
                <a:spcPct val="0"/>
              </a:spcBef>
            </a:pPr>
            <a:r>
              <a:rPr lang="en-US" sz="10392" spc="-4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1627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1FF72"/>
                </a:solidFill>
                <a:latin typeface="Space Age"/>
              </a:rPr>
              <a:t>SOLX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8D4A8"/>
                </a:solidFill>
                <a:latin typeface="Poppins"/>
              </a:rPr>
              <a:t>Sarcasm &amp; Online harm Locator with 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035040"/>
            <a:ext cx="1627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D4A8"/>
                </a:solidFill>
                <a:latin typeface="Poppins"/>
              </a:rPr>
              <a:t>PROBLEM STATEMENT 1   |   AI-Powered Tanglish Cyberbullying &amp; Sarcasm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446520"/>
            <a:ext cx="1188720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800100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8822"/>
                </a:solidFill>
                <a:latin typeface="Poppins"/>
              </a:rPr>
              <a:t>Team  Inferno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85222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FE8"/>
                </a:solidFill>
                <a:latin typeface="Calibri"/>
              </a:rPr>
              <a:t>Roshini Y            RA2311003040018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89245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FE8"/>
                </a:solidFill>
                <a:latin typeface="Calibri"/>
              </a:rPr>
              <a:t>Sai Shivaram LN   RA2311003040023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9326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FE8"/>
                </a:solidFill>
                <a:latin typeface="Calibri"/>
              </a:rPr>
              <a:t>Archana Ramesh   RA2311003040050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0" y="8001000"/>
            <a:ext cx="6217920" cy="594360"/>
          </a:xfrm>
          <a:prstGeom prst="rect">
            <a:avLst/>
          </a:prstGeom>
          <a:solidFill>
            <a:srgbClr val="0818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80010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1FF72"/>
                </a:solidFill>
                <a:latin typeface="Calibri"/>
              </a:rP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829360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1FF72"/>
                </a:solidFill>
                <a:latin typeface="Consolas"/>
              </a:rPr>
              <a:t>ssr446.github.io/SOLX_Sample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9829800"/>
            <a:ext cx="1627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/>
              </a:rPr>
              <a:t>NLP Hackathon 2026   |   SRM Institute of Science and Technology   |   Dept. of CSE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7443" y="2199933"/>
            <a:ext cx="15829870" cy="92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CHOOSEN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60337" y="2385513"/>
            <a:ext cx="1546294" cy="1474289"/>
          </a:xfrm>
          <a:custGeom>
            <a:avLst/>
            <a:gdLst/>
            <a:ahLst/>
            <a:cxnLst/>
            <a:rect r="r" b="b" t="t" l="l"/>
            <a:pathLst>
              <a:path h="1474289" w="1546294">
                <a:moveTo>
                  <a:pt x="0" y="0"/>
                </a:moveTo>
                <a:lnTo>
                  <a:pt x="1546293" y="0"/>
                </a:lnTo>
                <a:lnTo>
                  <a:pt x="1546293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Rectangle 4"/>
          <p:cNvSpPr/>
          <p:nvPr/>
        </p:nvSpPr>
        <p:spPr>
          <a:xfrm>
            <a:off x="1005840" y="3246120"/>
            <a:ext cx="16276320" cy="1325880"/>
          </a:xfrm>
          <a:prstGeom prst="rect">
            <a:avLst/>
          </a:prstGeom>
          <a:solidFill>
            <a:srgbClr val="0814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246120"/>
            <a:ext cx="64008" cy="132588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37560"/>
            <a:ext cx="159105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0FFE8"/>
                </a:solidFill>
                <a:latin typeface="Calibri"/>
              </a:rPr>
              <a:t>Develop an AI-powered model to understand Tanglish (Tamil written in English alphabets) and detect toxic comments, hate speech, online harassment, and cultural sarcasm embedded in pop-culture references across digital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70916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709160"/>
            <a:ext cx="822960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1FF72"/>
                </a:solidFill>
                <a:latin typeface="Poppins"/>
              </a:rPr>
              <a:t>No Standard Spelling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67528"/>
            <a:ext cx="7955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"Enna" / "yenna" / "ena" / "yena" — dozens of spelling variants per Tamil word. Standard tokenizers cannot handle this non-standard orthography.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470916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6920" y="4709160"/>
            <a:ext cx="822960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484632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Poppins"/>
              </a:rPr>
              <a:t>Invisible Cultural Sarcasm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5367528"/>
            <a:ext cx="7955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Tamil meme culture wraps insults in film dialogues &amp; meme templates. Generic NLP models have zero awareness of these 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7315200"/>
            <a:ext cx="822960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745236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DBB"/>
                </a:solidFill>
                <a:latin typeface="Poppins"/>
              </a:rPr>
              <a:t>Code-Switching Confusion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7973568"/>
            <a:ext cx="7955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Tanglish mixes Tamil grammar with English mid-sentence, defeating NLP pipelines built for single-language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6920" y="7315200"/>
            <a:ext cx="8229600" cy="5029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745236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555"/>
                </a:solidFill>
                <a:latin typeface="Poppins"/>
              </a:rPr>
              <a:t>Scarce Labelled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7973568"/>
            <a:ext cx="7955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Publicly available Tanglish cyberbullying datasets are extremely scarce, making supervised model training highly challenging.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5860" y="8178683"/>
            <a:ext cx="1132345" cy="1079617"/>
          </a:xfrm>
          <a:custGeom>
            <a:avLst/>
            <a:gdLst/>
            <a:ahLst/>
            <a:cxnLst/>
            <a:rect r="r" b="b" t="t" l="l"/>
            <a:pathLst>
              <a:path h="1079617" w="1132345">
                <a:moveTo>
                  <a:pt x="0" y="0"/>
                </a:moveTo>
                <a:lnTo>
                  <a:pt x="1132345" y="0"/>
                </a:lnTo>
                <a:lnTo>
                  <a:pt x="1132345" y="1079617"/>
                </a:lnTo>
                <a:lnTo>
                  <a:pt x="0" y="107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30410"/>
            <a:ext cx="16986431" cy="104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sz="7929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PROBLEM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1627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FF72"/>
                </a:solidFill>
                <a:latin typeface="Poppins"/>
              </a:rPr>
              <a:t>Objectives &amp; Theme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49039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1FF72"/>
                </a:solidFill>
                <a:latin typeface="Poppins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Detect toxic, harassing and hate-speech content in Tanglish text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Identify culturally embedded sarcasm via Tamil pop-culture references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Standardize Tanglish spelling variants with a phonetic normalizer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Provide explainable, plain-English justification for every prediction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Improve digital safety for Tamil-speaking online communities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3886200"/>
            <a:ext cx="27432" cy="594360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388620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Poppins"/>
              </a:rPr>
              <a:t>THEME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2976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Next-Gen Tamil Language &amp; Cultural AI (Hackathon Theme)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Preserve classical Tamil digital culture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Improve digital accessibility for Tamil communities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Secure online communication using intelligent AI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D4A8"/>
                </a:solidFill>
                <a:latin typeface="Calibri"/>
              </a:rPr>
              <a:t>  ‣  Bridge rural language use and modern digital platforms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48644"/>
            <a:ext cx="10326203" cy="8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6084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PROPOSED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765821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1005840" y="2834640"/>
            <a:ext cx="1627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Poppins"/>
              </a:rPr>
              <a:t>3-Stage AI Pipeline — Normalizer  &gt;  Classifier  &gt;  Explainer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291840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47472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544068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3611880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621024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1FF72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61188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Typo &amp; Slang
Normalizer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4434840"/>
            <a:ext cx="5120640" cy="320040"/>
          </a:xfrm>
          <a:prstGeom prst="rect">
            <a:avLst/>
          </a:prstGeom>
          <a:solidFill>
            <a:srgbClr val="081A08"/>
          </a:solidFill>
          <a:ln w="9525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1FF72"/>
                </a:solidFill>
                <a:latin typeface="Poppins"/>
              </a:rPr>
              <a:t>Preprocessing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864608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Phonetic mapping of spelling variants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'enna' / 'yenna' / 'ena'  -&gt;  unified root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Internet slang &amp; abbreviation lookup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Character-level embedding similarity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Output: clean, normalized Tanglish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47472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474720"/>
            <a:ext cx="544068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31152" y="3611880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3621024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1188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Multi-Label
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1152" y="4434840"/>
            <a:ext cx="5120640" cy="320040"/>
          </a:xfrm>
          <a:prstGeom prst="rect">
            <a:avLst/>
          </a:prstGeom>
          <a:solidFill>
            <a:srgbClr val="081A08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Poppins"/>
              </a:rPr>
              <a:t>Core NLP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864608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Fine-tuned MuRIL / XLM-RoBERTa model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Categories: Toxic / Sarcastic / Cyberbullying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Confidence score 0-100% per category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Single comment can trigger multiple labels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Handles Tamil-English code-switching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27280" y="347472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27280" y="3474720"/>
            <a:ext cx="544068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691872" y="3611880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01016" y="3621024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DBB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95960" y="361188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Cultural Context
Explainer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691872" y="4434840"/>
            <a:ext cx="5120640" cy="320040"/>
          </a:xfrm>
          <a:prstGeom prst="rect">
            <a:avLst/>
          </a:prstGeom>
          <a:solidFill>
            <a:srgbClr val="081A08"/>
          </a:solidFill>
          <a:ln w="9525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710160" y="443484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DBB"/>
                </a:solidFill>
                <a:latin typeface="Poppins"/>
              </a:rPr>
              <a:t>Explainable AI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91872" y="4864608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Knowledge-base of Tamil film dialogues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Maps phrase to meme template or dialogue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Identifies sarcasm vehicle and intent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Plain-English moderator explanation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Severity score + structured JSON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A5A3A"/>
                </a:solidFill>
                <a:latin typeface="Consolas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16384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A5A3A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064" y="1874455"/>
            <a:ext cx="13845498" cy="78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984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627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Poppins"/>
              </a:rPr>
              <a:t>Technologies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429000"/>
            <a:ext cx="16276320" cy="502920"/>
          </a:xfrm>
          <a:prstGeom prst="rect">
            <a:avLst/>
          </a:prstGeom>
          <a:solidFill>
            <a:srgbClr val="081408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65576"/>
            <a:ext cx="1618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1FF72"/>
                </a:solidFill>
                <a:latin typeface="Consolas"/>
              </a:rPr>
              <a:t>Raw Tanglish Input  &gt;&gt;  Normalizer  &gt;&gt;  MuRIL Classifier  &gt;&gt;  Cultural Explainer  &gt;&gt;  JSON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069080"/>
            <a:ext cx="4069080" cy="589788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406908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420624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/>
              </a:rPr>
              <a:t>NLP &amp;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4663440"/>
            <a:ext cx="374904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818888"/>
            <a:ext cx="37947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Python 3.11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HuggingFace Transformers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MuRIL (Multilingual BERT)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XLM-RoBERTa (fallback)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scikit-learn  /  NLTK  /  spaCy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4069080"/>
            <a:ext cx="4069080" cy="589788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4069080"/>
            <a:ext cx="406908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420624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Poppins"/>
              </a:rPr>
              <a:t>Data &amp;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8112" y="4663440"/>
            <a:ext cx="374904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4818888"/>
            <a:ext cx="37947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Pandas  /  NumPy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Custom Tanglish Corpus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Phonetic Mapping Tables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Regex Normalizer Engine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Label Studio (annotation)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4069080"/>
            <a:ext cx="4069080" cy="589788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0" y="4069080"/>
            <a:ext cx="406908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420624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DBB"/>
                </a:solidFill>
                <a:latin typeface="Poppins"/>
              </a:rPr>
              <a:t>Backend &amp;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65792" y="4663440"/>
            <a:ext cx="374904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4818888"/>
            <a:ext cx="37947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FastAPI  +  Uvicorn ASGI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REST API endpoints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JSON structured output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Pydantic validation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Docker (deployment)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98880" y="4069080"/>
            <a:ext cx="4069080" cy="589788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898880" y="4069080"/>
            <a:ext cx="4069080" cy="50292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63472" y="4206240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22"/>
                </a:solidFill>
                <a:latin typeface="Poppins"/>
              </a:rPr>
              <a:t>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63472" y="4663440"/>
            <a:ext cx="374904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63472" y="4818888"/>
            <a:ext cx="37947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HTML5  /  CSS3  /  JS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Cyber-green dark UI theme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GitHub Pages hosting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Responsive design</a:t>
            </a:r>
          </a:p>
          <a:p>
            <a:pPr>
              <a:spcBef>
                <a:spcPts val="900"/>
              </a:spcBef>
            </a:pPr>
            <a:r>
              <a:rPr sz="1300" b="0">
                <a:solidFill>
                  <a:srgbClr val="B8D4A8"/>
                </a:solidFill>
                <a:latin typeface="Calibri"/>
              </a:rPr>
              <a:t>  ‣  Live prototype demo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064" y="1893505"/>
            <a:ext cx="15035335" cy="84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498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WORKING PROTOTYPE (OPTIONAL]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627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D4A8"/>
                </a:solidFill>
                <a:latin typeface="Poppins"/>
              </a:rPr>
              <a:t>Simulated end-to-end demo — click any example phrase at: ssr446.github.io/SOLX_Sample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73552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FF72"/>
                </a:solidFill>
                <a:latin typeface="Consolas"/>
              </a:rPr>
              <a:t>INPUT  (Raw Tanglish)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3075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76472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1FF72"/>
                </a:solidFill>
                <a:latin typeface="Consolas"/>
              </a:rPr>
              <a:t>"Avaru periya Appatakar da, yenna pannuvanunga"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Consolas"/>
              </a:rPr>
              <a:t>NORMALIZED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37667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422392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700"/>
                </a:solidFill>
                <a:latin typeface="Consolas"/>
              </a:rPr>
              <a:t>"Avar periya Aptakar da, enna pannuvanga"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159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5A3A"/>
                </a:solidFill>
                <a:latin typeface="Consolas"/>
              </a:rPr>
              <a:t>v  Normalizer 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9618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5A3A"/>
                </a:solidFill>
                <a:latin typeface="Consolas"/>
              </a:rPr>
              <a:t>v  Classifier + Explainer 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4652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555"/>
                </a:solidFill>
                <a:latin typeface="Consolas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6748272"/>
            <a:ext cx="7680960" cy="3154680"/>
          </a:xfrm>
          <a:prstGeom prst="rect">
            <a:avLst/>
          </a:prstGeom>
          <a:solidFill>
            <a:srgbClr val="0C0606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68580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Sarcasm: 82%   |   Cyberbullying: 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7406640"/>
            <a:ext cx="7406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8D4A8"/>
                </a:solidFill>
                <a:latin typeface="Calibri"/>
              </a:rPr>
              <a:t>Cultural Ref: "Appatakar" — sarcastic title for
someone pretending to be superior.
Origin: Tanglish meme template (2019 onwards).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42900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1FF72"/>
                </a:solidFill>
                <a:latin typeface="Poppins"/>
              </a:rPr>
              <a:t>KEY FUNCTIONALITIES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867912"/>
            <a:ext cx="886968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406908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406908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1605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Poppins"/>
              </a:rPr>
              <a:t>Multi-Label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5445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Flags Toxic, Sarcastic, Cyberbullying simultaneously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507492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507492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51663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Poppins"/>
              </a:rPr>
              <a:t>Severity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5504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0-100% confidence score per detected label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608076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608076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61722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DBB"/>
                </a:solidFill>
                <a:latin typeface="Poppins"/>
              </a:rPr>
              <a:t>Tanglish Normalizer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5562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Resolves 50+ spelling variants per common Tamil 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708660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708660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71780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Poppins"/>
              </a:rPr>
              <a:t>Cultural Context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756208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Identifies film dialogues &amp; meme templates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809244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809244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818388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Poppins"/>
              </a:rPr>
              <a:t>Explainable AI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856792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Plain-English justification for every decision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909828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909828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91897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DBB"/>
                </a:solidFill>
                <a:latin typeface="Poppins"/>
              </a:rPr>
              <a:t>API-Ready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95737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A8"/>
                </a:solidFill>
                <a:latin typeface="Calibri"/>
              </a:rPr>
              <a:t>Structured output plugs into any platform backend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5083" y="2504895"/>
            <a:ext cx="15829929" cy="182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7248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REFERENCES &amp;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4434840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4617720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617720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Chakravarthi, B. R. et al. (2021). Dravidian-CodeMix: Sentiment Analysis for Code-Mixed Social Media Text. Proceedings of EACL. ACL Anthology.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5504688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5550408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550408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Kula, M. et al. (2020). Offensive Language Identification in Dravidian Languages. Proceedings of FIRE 2020 Workshop.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6437376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6483096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6483096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Devlin, J. et al. (2019). BERT: Pre-training of Deep Bidirectional Transformers for Language Understanding. NAACL 2019. arXiv:1810.04805.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7370064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7415784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7415784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Conneau, A. &amp; Lample, G. (2019). Cross-lingual Language Model Pretraining (XLM). NeurIPS 2019. arXiv:1901.07291.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" y="8302752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8348472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8348472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Mandl, T. et al. (2020). Overview of the HASOC Track at FIRE 2020: Hate Speech and Offensive Content Identification. FIRE 2020.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9235440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9281160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1FF72"/>
                </a:solidFill>
                <a:latin typeface="Consolas"/>
              </a:rPr>
              <a:t>[6]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9281160"/>
            <a:ext cx="1687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D4A8"/>
                </a:solidFill>
                <a:latin typeface="Calibri"/>
              </a:rPr>
              <a:t>Google Research (2021). MuRIL: Multilingual Representations for Indian Languages. arXiv:2103.10730.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3493" y="7929022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320577" y="7929022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3908" y="4583213"/>
            <a:ext cx="14820184" cy="22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20"/>
              </a:lnSpc>
            </a:pPr>
            <a:r>
              <a:rPr lang="en-US" sz="17417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627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1FF72"/>
                </a:solidFill>
                <a:latin typeface="Space Age"/>
              </a:rPr>
              <a:t>SOLX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8D4A8"/>
                </a:solidFill>
                <a:latin typeface="Poppins"/>
              </a:rPr>
              <a:t>Sarcasm &amp; Online harm Locator with eXplainability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944368"/>
            <a:ext cx="1097280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1627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822"/>
                </a:solidFill>
                <a:latin typeface="Poppins"/>
              </a:rPr>
              <a:t>Team  Inferno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8D4A8"/>
                </a:solidFill>
                <a:latin typeface="Poppins"/>
              </a:rPr>
              <a:t>Roshini Y     |     Sai Shivaram LN     |     Archana Ramesh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6995160"/>
            <a:ext cx="6400800" cy="640080"/>
          </a:xfrm>
          <a:prstGeom prst="rect">
            <a:avLst/>
          </a:prstGeom>
          <a:solidFill>
            <a:srgbClr val="061206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7013448"/>
            <a:ext cx="6309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1FF72"/>
                </a:solidFill>
                <a:latin typeface="Consolas"/>
              </a:rPr>
              <a:t>ssr446.github.io/SOLX_Sample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9802368"/>
            <a:ext cx="1627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/>
              </a:rPr>
              <a:t>NLP Hackathon 2026   |   SRM Institute of Science and Technology   |   Dept.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DAHR9pm3ZWM</dc:identifier>
  <dcterms:modified xsi:type="dcterms:W3CDTF">2011-08-01T06:04:30Z</dcterms:modified>
  <cp:revision>1</cp:revision>
  <dc:title>NLP2026 TEMPLATE</dc:title>
</cp:coreProperties>
</file>