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F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sr446.github.io/SOLX_Sample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sr446.github.io/SOLX_Sample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29184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 dirty="0">
                <a:solidFill>
                  <a:srgbClr val="39FF14"/>
                </a:solidFill>
                <a:latin typeface="Consolas"/>
              </a:rPr>
              <a:t>SOLX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FF00"/>
                </a:solidFill>
                <a:latin typeface="Calibri"/>
              </a:rPr>
              <a:t>Sarcasm  &amp;  Online harm  Locator  with 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AB6E"/>
                </a:solidFill>
                <a:latin typeface="Calibri"/>
              </a:rPr>
              <a:t>An AI-powered Tanglish Cyberbullying &amp; Sarcasm Detection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154680"/>
            <a:ext cx="5760720" cy="18288"/>
          </a:xfrm>
          <a:prstGeom prst="rect">
            <a:avLst/>
          </a:prstGeom>
          <a:solidFill>
            <a:srgbClr val="2CE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3291840"/>
            <a:ext cx="11430000" cy="246888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C03A00"/>
                </a:solidFill>
                <a:latin typeface="Calibri"/>
              </a:rPr>
              <a:t>Team  Inferno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AB6E"/>
                </a:solidFill>
                <a:latin typeface="Calibri"/>
              </a:rPr>
              <a:t>NLP Hackathon 2026  ·  Problem Statement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E8FFE0"/>
                </a:solidFill>
                <a:latin typeface="Calibri"/>
              </a:rPr>
              <a:t>Y </a:t>
            </a:r>
            <a:r>
              <a:rPr sz="1400" b="0" i="0" dirty="0">
                <a:solidFill>
                  <a:srgbClr val="E8FFE0"/>
                </a:solidFill>
                <a:latin typeface="Calibri"/>
              </a:rPr>
              <a:t>Roshni    |   RA2311003040018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8FFE0"/>
                </a:solidFill>
                <a:latin typeface="Calibri"/>
              </a:rPr>
              <a:t>Sai Shivaram LN   |   RA2311003040023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926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8FFE0"/>
                </a:solidFill>
                <a:latin typeface="Calibri"/>
              </a:rPr>
              <a:t>Archana Ramesh   |   RA2311003040050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429000"/>
            <a:ext cx="3657600" cy="502920"/>
          </a:xfrm>
          <a:prstGeom prst="rect">
            <a:avLst/>
          </a:prstGeom>
          <a:solidFill>
            <a:srgbClr val="071807"/>
          </a:solidFill>
          <a:ln w="1524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3456432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7EFF1D"/>
                </a:solidFill>
                <a:latin typeface="Consolas" panose="020B0609020204030204" pitchFamily="49" charset="0"/>
              </a:rPr>
              <a:t>Launch Static Site ↗</a:t>
            </a:r>
            <a:endParaRPr sz="1400" b="1" i="0" dirty="0">
              <a:solidFill>
                <a:srgbClr val="7EFF1D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D5E37"/>
                </a:solidFill>
                <a:latin typeface="Calibri"/>
              </a:rPr>
              <a:t>SRM Institute of Science and Technology  ·  Dept. of CSE  ·  Design &amp; Innovation Club</a:t>
            </a:r>
          </a:p>
        </p:txBody>
      </p:sp>
      <p:sp>
        <p:nvSpPr>
          <p:cNvPr id="18" name="Rectangle 17">
            <a:hlinkClick r:id="rId2"/>
            <a:extLst>
              <a:ext uri="{FF2B5EF4-FFF2-40B4-BE49-F238E27FC236}">
                <a16:creationId xmlns:a16="http://schemas.microsoft.com/office/drawing/2014/main" id="{750F1062-0F6B-68EE-A92F-FF3175EC83A7}"/>
              </a:ext>
            </a:extLst>
          </p:cNvPr>
          <p:cNvSpPr/>
          <p:nvPr/>
        </p:nvSpPr>
        <p:spPr>
          <a:xfrm>
            <a:off x="8627197" y="3493516"/>
            <a:ext cx="237281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Why Tanglish is Broken for Existing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5577840" cy="192024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57784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755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  <a:latin typeface="Calibri"/>
              </a:rPr>
              <a:t>No Standard Spelling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1031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A single Tamil word like "what" can appear as: enna / yenna / ena / yena / yen — dozens of variants per word.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577840" cy="192024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57784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755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  <a:latin typeface="Calibri"/>
              </a:rPr>
              <a:t>Cultural Sarcasm is Invisible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031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Tamil meme culture uses film dialogues and pop-culture references as sarcasm vehicles — standard NLP sees none of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49040"/>
            <a:ext cx="5577840" cy="192024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749040"/>
            <a:ext cx="557784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" y="3858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  <a:latin typeface="Calibri"/>
              </a:rPr>
              <a:t>Code-Switching Confusion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20624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Tanglish mixes Tamil grammar with English words mid-sentence, breaking conventional tokenizers and classifiers.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40"/>
            <a:ext cx="5577840" cy="192024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749040"/>
            <a:ext cx="557784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858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  <a:latin typeface="Calibri"/>
              </a:rPr>
              <a:t>No Labelled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20624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Publicly available Tanglish cyberbullying datasets are extremely scarce, making model training highly challenging.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PROBLEM STATEMENT  ·  PS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Tanglish Cyberbullying &amp; Sarcasm Detector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11338560" cy="1280160"/>
          </a:xfrm>
          <a:prstGeom prst="rect">
            <a:avLst/>
          </a:prstGeom>
          <a:solidFill>
            <a:srgbClr val="071207"/>
          </a:solidFill>
          <a:ln w="1905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FE0"/>
                </a:solidFill>
                <a:latin typeface="Calibri"/>
              </a:rPr>
              <a:t>Develop an AI-powered model capable of understanding Tanglish (Tamil written using English alphabets) to detect toxic comments, hate speech, online harassment, and cultural sarcasm.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FF00"/>
                </a:solidFill>
                <a:latin typeface="Calibri"/>
              </a:rPr>
              <a:t>Our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7AAB6E"/>
                </a:solidFill>
                <a:latin typeface="Calibri"/>
              </a:rPr>
              <a:t>▸  Detect toxic, harassing, and hate-speech content in Tanglish text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7AAB6E"/>
                </a:solidFill>
                <a:latin typeface="Calibri"/>
              </a:rPr>
              <a:t>▸  Identify culturally embedded sarcasm using pop-culture references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7AAB6E"/>
                </a:solidFill>
                <a:latin typeface="Calibri"/>
              </a:rPr>
              <a:t>▸  Standardize spelling variants through a Tanglish normalizer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7AAB6E"/>
                </a:solidFill>
                <a:latin typeface="Calibri"/>
              </a:rPr>
              <a:t>▸  Provide explainable, human-readable justification for every prediction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7AAB6E"/>
                </a:solidFill>
                <a:latin typeface="Calibri"/>
              </a:rPr>
              <a:t>▸  Improve digital safety for Tamil-speaking communities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63240"/>
            <a:ext cx="5303520" cy="329184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182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Calibri"/>
              </a:rPr>
              <a:t>Theme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661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AAB6E"/>
                </a:solidFill>
                <a:latin typeface="Calibri"/>
              </a:rPr>
              <a:t>▸  Next-Gen Tamil Language &amp; Cultural AI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AAB6E"/>
                </a:solidFill>
                <a:latin typeface="Calibri"/>
              </a:rPr>
              <a:t>▸  Preserve Tamil digital culture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AAB6E"/>
                </a:solidFill>
                <a:latin typeface="Calibri"/>
              </a:rPr>
              <a:t>▸  Improve digital accessibility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AAB6E"/>
                </a:solidFill>
                <a:latin typeface="Calibri"/>
              </a:rPr>
              <a:t>▸  Secure online communication with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How SOLX Works — 3-Stage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475488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65760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828800"/>
            <a:ext cx="502920" cy="411480"/>
          </a:xfrm>
          <a:prstGeom prst="rect">
            <a:avLst/>
          </a:prstGeom>
          <a:solidFill>
            <a:srgbClr val="0A200A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" y="1828800"/>
            <a:ext cx="48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FF14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FE0"/>
                </a:solidFill>
                <a:latin typeface="Calibri"/>
              </a:rPr>
              <a:t>Typo &amp; Slang
Normalizer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468880"/>
            <a:ext cx="3291840" cy="274320"/>
          </a:xfrm>
          <a:prstGeom prst="rect">
            <a:avLst/>
          </a:prstGeom>
          <a:solidFill>
            <a:srgbClr val="0A200A"/>
          </a:solidFill>
          <a:ln w="1016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459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9FF14"/>
                </a:solidFill>
                <a:latin typeface="Consolas"/>
              </a:rPr>
              <a:t>Preprocessing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803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Phonetic mapping of spelling variants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Character-level embedding similarity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Internet slang &amp; abbreviation lookup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Output: Unified root-form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657600" cy="475488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1691640"/>
            <a:ext cx="3657600" cy="4572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43984" y="1828800"/>
            <a:ext cx="502920" cy="411480"/>
          </a:xfrm>
          <a:prstGeom prst="rect">
            <a:avLst/>
          </a:prstGeom>
          <a:solidFill>
            <a:srgbClr val="0A200A"/>
          </a:solidFill>
          <a:ln w="1270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1828800"/>
            <a:ext cx="48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FF00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FE0"/>
                </a:solidFill>
                <a:latin typeface="Calibri"/>
              </a:rPr>
              <a:t>Multi-Label
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3984" y="2468880"/>
            <a:ext cx="3291840" cy="274320"/>
          </a:xfrm>
          <a:prstGeom prst="rect">
            <a:avLst/>
          </a:prstGeom>
          <a:solidFill>
            <a:srgbClr val="0A200A"/>
          </a:solidFill>
          <a:ln w="1016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2459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FF00"/>
                </a:solidFill>
                <a:latin typeface="Consolas"/>
              </a:rPr>
              <a:t>Core NLP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8803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Fine-tuned MuRIL / XLM-RoBERTa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Labels: Toxic, Sarcastic, Cyberbullying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Confidence score per category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Handles code-switched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3024" y="1691640"/>
            <a:ext cx="3657600" cy="475488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93024" y="1691640"/>
            <a:ext cx="36576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57616" y="1828800"/>
            <a:ext cx="502920" cy="411480"/>
          </a:xfrm>
          <a:prstGeom prst="rect">
            <a:avLst/>
          </a:prstGeom>
          <a:solidFill>
            <a:srgbClr val="0A200A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828800"/>
            <a:ext cx="48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FE0"/>
                </a:solidFill>
                <a:latin typeface="Calibri"/>
              </a:rPr>
              <a:t>Cultural Context
Explainer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7616" y="2468880"/>
            <a:ext cx="3291840" cy="274320"/>
          </a:xfrm>
          <a:prstGeom prst="rect">
            <a:avLst/>
          </a:prstGeom>
          <a:solidFill>
            <a:srgbClr val="0A200A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75904" y="2459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00"/>
                </a:solidFill>
                <a:latin typeface="Consolas"/>
              </a:rPr>
              <a:t>Explainable AI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8803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Knowledge-base of Tamil references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Maps phrase → meme / dialogue origin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Plain-English moderator explanation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7AAB6E"/>
                </a:solidFill>
                <a:latin typeface="Calibri"/>
              </a:rPr>
              <a:t>▸  Severity score + category tag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397763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401A"/>
                </a:solidFill>
                <a:latin typeface="Consola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97763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401A"/>
                </a:solidFill>
                <a:latin typeface="Consolas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Technologies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480060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74320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NLP &amp;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40280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Python 3.11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HuggingFace Transformers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MuRIL (Multilingual BERT)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XLM-RoBERTa (fallback)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scikit-learn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NLTK / spaCy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691640"/>
            <a:ext cx="2743200" cy="480060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0128" y="1691640"/>
            <a:ext cx="2743200" cy="4572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18013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FF00"/>
                </a:solidFill>
                <a:latin typeface="Calibri"/>
              </a:rPr>
              <a:t>Data &amp;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240280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Pandas / NumPy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Custom Tanglish Corpus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Phonetic Mapping Tables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Regex Normalizer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Label Studio (annotation)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Kaggle Datasets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691640"/>
            <a:ext cx="2743200" cy="480060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54496" y="1691640"/>
            <a:ext cx="27432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18013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Backend &amp;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240280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FastAPI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Uvicorn ASGI Server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JSON response schema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REST API endpoints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Pydantic validation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Docker (deployment)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691640"/>
            <a:ext cx="2743200" cy="480060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98864" y="1691640"/>
            <a:ext cx="2743200" cy="45720"/>
          </a:xfrm>
          <a:prstGeom prst="rect">
            <a:avLst/>
          </a:prstGeom>
          <a:solidFill>
            <a:srgbClr val="ADF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36024" y="18013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DFF2F"/>
                </a:solidFill>
                <a:latin typeface="Calibri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240280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HTML5 / CSS3 / JavaScript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JetBrains Mono font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Cyber green UI theme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GitHub Pages hosting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Responsive design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AAB6E"/>
                </a:solidFill>
                <a:latin typeface="Calibri"/>
              </a:rPr>
              <a:t>▸  Live demo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What SOLX Does —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1188720"/>
          </a:xfrm>
          <a:prstGeom prst="rect">
            <a:avLst/>
          </a:prstGeom>
          <a:solidFill>
            <a:srgbClr val="000A00"/>
          </a:solidFill>
          <a:ln w="1524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INPUT  (Raw Tanglish Comment)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FF14"/>
                </a:solidFill>
                <a:latin typeface="Consolas"/>
              </a:rPr>
              <a:t>"Avaru periya Appatakar da, yenna pannuvanunga"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401A"/>
                </a:solidFill>
                <a:latin typeface="Consolas"/>
              </a:rPr>
              <a:t>↓  Normalizer 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10128"/>
            <a:ext cx="5120640" cy="1005840"/>
          </a:xfrm>
          <a:prstGeom prst="rect">
            <a:avLst/>
          </a:prstGeom>
          <a:solidFill>
            <a:srgbClr val="000A00"/>
          </a:solidFill>
          <a:ln w="1524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FF00"/>
                </a:solidFill>
                <a:latin typeface="Consolas"/>
              </a:rPr>
              <a:t>NORMALIZED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301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FF00"/>
                </a:solidFill>
                <a:latin typeface="Consolas"/>
              </a:rPr>
              <a:t>"Avar periya Aptakar da, enna pannuvanga"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616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401A"/>
                </a:solidFill>
                <a:latin typeface="Consolas"/>
              </a:rPr>
              <a:t>↓  Classifier  +  Explainer 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73168"/>
            <a:ext cx="5120640" cy="1691640"/>
          </a:xfrm>
          <a:prstGeom prst="rect">
            <a:avLst/>
          </a:prstGeom>
          <a:solidFill>
            <a:srgbClr val="071207"/>
          </a:solidFill>
          <a:ln w="1778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545"/>
                </a:solidFill>
                <a:latin typeface="Consola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FE0"/>
                </a:solidFill>
                <a:latin typeface="Calibri"/>
              </a:rPr>
              <a:t>Sarcasm: 82%  |  Cyberbullying: 74%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22392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AB6E"/>
                </a:solidFill>
                <a:latin typeface="Calibri"/>
              </a:rPr>
              <a:t>Cultural Ref: "Appatakar" — sarcastic title for someone acting superior. (Tanglish meme template, 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  <a:latin typeface="Calibri"/>
              </a:rPr>
              <a:t>Key Functionalities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194560"/>
            <a:ext cx="5760720" cy="658368"/>
          </a:xfrm>
          <a:prstGeom prst="rect">
            <a:avLst/>
          </a:prstGeom>
          <a:solidFill>
            <a:srgbClr val="071207"/>
          </a:solidFill>
          <a:ln w="1016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2" y="22494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F00"/>
                </a:solidFill>
                <a:latin typeface="Calibri"/>
              </a:rPr>
              <a:t>Multi-label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514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Flags Toxic, Sarcastic, and Cyberbullying simultaneously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944368"/>
            <a:ext cx="5760720" cy="658368"/>
          </a:xfrm>
          <a:prstGeom prst="rect">
            <a:avLst/>
          </a:prstGeom>
          <a:solidFill>
            <a:srgbClr val="071207"/>
          </a:solidFill>
          <a:ln w="1016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29992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F00"/>
                </a:solidFill>
                <a:latin typeface="Calibri"/>
              </a:rPr>
              <a:t>Severity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264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0–100% confidence score per detected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94176"/>
            <a:ext cx="5760720" cy="658368"/>
          </a:xfrm>
          <a:prstGeom prst="rect">
            <a:avLst/>
          </a:prstGeom>
          <a:solidFill>
            <a:srgbClr val="071207"/>
          </a:solidFill>
          <a:ln w="1016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3749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F00"/>
                </a:solidFill>
                <a:latin typeface="Calibri"/>
              </a:rPr>
              <a:t>Tanglish Normalizer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4014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Resolves 50+ spelling variants per common Tamil word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443984"/>
            <a:ext cx="5760720" cy="658368"/>
          </a:xfrm>
          <a:prstGeom prst="rect">
            <a:avLst/>
          </a:prstGeom>
          <a:solidFill>
            <a:srgbClr val="071207"/>
          </a:solidFill>
          <a:ln w="1016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498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F00"/>
                </a:solidFill>
                <a:latin typeface="Calibri"/>
              </a:rPr>
              <a:t>Context Explainer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764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Identifies movie dialogues, meme templates &amp; 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193792"/>
            <a:ext cx="5760720" cy="658368"/>
          </a:xfrm>
          <a:prstGeom prst="rect">
            <a:avLst/>
          </a:prstGeom>
          <a:solidFill>
            <a:srgbClr val="071207"/>
          </a:solidFill>
          <a:ln w="1016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99632" y="5248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F00"/>
                </a:solidFill>
                <a:latin typeface="Calibri"/>
              </a:rPr>
              <a:t>Moderator-Friendly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Plain-English justification for every AI 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5943600"/>
            <a:ext cx="5760720" cy="658368"/>
          </a:xfrm>
          <a:prstGeom prst="rect">
            <a:avLst/>
          </a:prstGeom>
          <a:solidFill>
            <a:srgbClr val="071207"/>
          </a:solidFill>
          <a:ln w="1016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59984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F00"/>
                </a:solidFill>
                <a:latin typeface="Calibri"/>
              </a:rPr>
              <a:t>API-Ready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Structured JSON — plugs into any platform's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WHY SOLX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Our Unique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577840" cy="210312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4864" cy="21031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8288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FF14"/>
                </a:solidFill>
                <a:latin typeface="Calibri"/>
              </a:rPr>
              <a:t>Tamil-Native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Unlike generic multilingual models, SOLX's normalizer is built specifically for Tanglish phonetics — handling variations no off-the-shelf tokenizer can resolve.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210312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4864" cy="210312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8288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FF00"/>
                </a:solidFill>
                <a:latin typeface="Calibri"/>
              </a:rPr>
              <a:t>Pop-Culture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24028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Our cultural context layer is the first of its kind — mapping Tamil film dialogues and meme templates to their sarcastic intent, making moderation explainable.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31920"/>
            <a:ext cx="5577840" cy="210312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54864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40690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Explainable AI for Moderation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48056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SOLX doesn't just flag content. It tells moderators WHY a comment is flagged with a cultural and linguistic breakdown — critical for global platforms moderating Tamil content.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577840" cy="210312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4864" cy="2103120"/>
          </a:xfrm>
          <a:prstGeom prst="rect">
            <a:avLst/>
          </a:prstGeom>
          <a:solidFill>
            <a:srgbClr val="ADF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0690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DFF2F"/>
                </a:solidFill>
                <a:latin typeface="Calibri"/>
              </a:rPr>
              <a:t>Multi-Label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48056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AB6E"/>
                </a:solidFill>
                <a:latin typeface="Calibri"/>
              </a:rPr>
              <a:t>A single comment can trigger multiple categories (e.g. Toxic + Sarcastic + Body Shaming) with individual scores, giving moderators granular prioritization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AA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onsolas"/>
              </a:rPr>
              <a:t>REFERENCES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FE0"/>
                </a:solidFill>
                <a:latin typeface="Calibri"/>
              </a:rPr>
              <a:t>Research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28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Chakravarthi, B. R. et al. (2021). "Dravidian-CodeMix: Sentiment Analysis for Code-Mixed Social Media Text." In Proceedings of the EACL. ACL Anthology.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13432"/>
            <a:ext cx="11338560" cy="9144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368296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6829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Kula, M. et al. (2020). "Offensive Language Identification in Dravidian Languages." In Proceedings of the FIRE 2020 Workshop.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90088"/>
            <a:ext cx="11338560" cy="9144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0449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4495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Devlin, J. et al. (2019). "BERT: Pre-training of Deep Bidirectional Transformers for Language Understanding." NAACL 2019. arXiv:1810.04805.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66744"/>
            <a:ext cx="11338560" cy="9144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72160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2160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Conneau, A. &amp; Lample, G. (2019). "Cross-lingual Language Model Pretraining." (XLM) NeurIPS 2019. arXiv:1901.07291.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343400"/>
            <a:ext cx="11338560" cy="9144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398264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Mandl, T. et al. (2020). "Overview of the HASOC Track at FIRE 2020: Hate Speech and Offensive Content Identification in Indo-European Languages." FIRE 2020.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020056"/>
            <a:ext cx="11338560" cy="9144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07492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Google Research (2021). "MuRIL: Multilingual Representations for Indian Languages." arXiv:2103.10730.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696712"/>
            <a:ext cx="11338560" cy="9144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751576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onsolas"/>
              </a:rPr>
              <a:t>[7]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5157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B6E"/>
                </a:solidFill>
                <a:latin typeface="Calibri"/>
              </a:rPr>
              <a:t>Karpenter, D. et al. (2020). "SemEval-2020 Task 5: Detecting Metaphors and Irony." Proceedings of SemEval 2020. ACL Anthology.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5212080"/>
          </a:xfrm>
          <a:prstGeom prst="rect">
            <a:avLst/>
          </a:prstGeom>
          <a:solidFill>
            <a:srgbClr val="071207"/>
          </a:solidFill>
          <a:ln w="12700">
            <a:solidFill>
              <a:srgbClr val="1A4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39FF14"/>
                </a:solidFill>
                <a:latin typeface="Consolas"/>
              </a:rPr>
              <a:t>SOLX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FFE0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26080"/>
            <a:ext cx="5760720" cy="22860"/>
          </a:xfrm>
          <a:prstGeom prst="rect">
            <a:avLst/>
          </a:prstGeom>
          <a:solidFill>
            <a:srgbClr val="2CE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C03A00"/>
                </a:solidFill>
                <a:latin typeface="Calibri"/>
              </a:rPr>
              <a:t>Team  Inferno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7AAB6E"/>
                </a:solidFill>
                <a:latin typeface="Calibri"/>
              </a:rPr>
              <a:t>Y </a:t>
            </a:r>
            <a:r>
              <a:rPr sz="1600" b="0" i="0" dirty="0">
                <a:solidFill>
                  <a:srgbClr val="7AAB6E"/>
                </a:solidFill>
                <a:latin typeface="Calibri"/>
              </a:rPr>
              <a:t>Roshni    ·   Sai Shivaram LN   ·   Archana Ramesh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069080"/>
            <a:ext cx="5029200" cy="502920"/>
          </a:xfrm>
          <a:prstGeom prst="rect">
            <a:avLst/>
          </a:prstGeom>
          <a:solidFill>
            <a:srgbClr val="071807"/>
          </a:solidFill>
          <a:ln w="1524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408736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7EFF1D"/>
                </a:solidFill>
                <a:latin typeface="Consolas" panose="020B0609020204030204" pitchFamily="49" charset="0"/>
              </a:rPr>
              <a:t>Launch Static Site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D5E37"/>
                </a:solidFill>
                <a:latin typeface="Calibri"/>
              </a:rPr>
              <a:t>NLP Hackathon 2026  ·  SRM Institute of Science and Technology  ·  Dept. of CSE</a:t>
            </a:r>
          </a:p>
        </p:txBody>
      </p:sp>
      <p:sp>
        <p:nvSpPr>
          <p:cNvPr id="14" name="Rectangle 13">
            <a:hlinkClick r:id="rId2"/>
            <a:extLst>
              <a:ext uri="{FF2B5EF4-FFF2-40B4-BE49-F238E27FC236}">
                <a16:creationId xmlns:a16="http://schemas.microsoft.com/office/drawing/2014/main" id="{5BEEE86F-C281-4DBB-92F2-D3532B3D26CB}"/>
              </a:ext>
            </a:extLst>
          </p:cNvPr>
          <p:cNvSpPr/>
          <p:nvPr/>
        </p:nvSpPr>
        <p:spPr>
          <a:xfrm>
            <a:off x="4823235" y="4102537"/>
            <a:ext cx="237281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987</Words>
  <Application>Microsoft Office PowerPoint</Application>
  <PresentationFormat>Custom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Shivaram</cp:lastModifiedBy>
  <cp:revision>8</cp:revision>
  <dcterms:created xsi:type="dcterms:W3CDTF">2013-01-27T09:14:16Z</dcterms:created>
  <dcterms:modified xsi:type="dcterms:W3CDTF">2026-08-10T17:38:26Z</dcterms:modified>
  <cp:category/>
</cp:coreProperties>
</file>